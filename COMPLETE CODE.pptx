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sldIdLst>
    <p:sldId id="310" r:id="rId2"/>
    <p:sldId id="311" r:id="rId3"/>
    <p:sldId id="312" r:id="rId4"/>
    <p:sldId id="313" r:id="rId5"/>
    <p:sldId id="31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91" autoAdjust="0"/>
  </p:normalViewPr>
  <p:slideViewPr>
    <p:cSldViewPr snapToGrid="0">
      <p:cViewPr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00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990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81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710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270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029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15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225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789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00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67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0638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3892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016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470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860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4464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B8887-E8B8-68AE-CE6D-56ABFF8BC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D5529-8723-2414-FEE0-9C296DDD8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C178E-E9B5-19C1-E305-CD3861838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75298-7388-4DAF-A1C4-84750693C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EC87C-12F7-99ED-BE54-0325C348D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78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268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21EE29-80F6-7AB2-3A8A-735D2A205A34}"/>
              </a:ext>
            </a:extLst>
          </p:cNvPr>
          <p:cNvSpPr txBox="1"/>
          <p:nvPr/>
        </p:nvSpPr>
        <p:spPr>
          <a:xfrm>
            <a:off x="1828799" y="140250"/>
            <a:ext cx="609600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C PROGRAM:</a:t>
            </a:r>
          </a:p>
          <a:p>
            <a:r>
              <a:rPr lang="en-IN" dirty="0"/>
              <a:t>Multi‑Module Structural &amp; Material Design Calculator</a:t>
            </a:r>
          </a:p>
          <a:p>
            <a:r>
              <a:rPr lang="en-IN" dirty="0"/>
              <a:t> For educational / school use (basic concepts only)</a:t>
            </a:r>
          </a:p>
          <a:p>
            <a:r>
              <a:rPr lang="en-IN" dirty="0"/>
              <a:t> --------------------------------------------------</a:t>
            </a:r>
          </a:p>
          <a:p>
            <a:r>
              <a:rPr lang="en-IN" dirty="0"/>
              <a:t> Project structure (logical modules in one file for simplicity):</a:t>
            </a:r>
          </a:p>
          <a:p>
            <a:r>
              <a:rPr lang="en-IN" dirty="0"/>
              <a:t> 1. </a:t>
            </a:r>
            <a:r>
              <a:rPr lang="en-IN" dirty="0" err="1"/>
              <a:t>material.c</a:t>
            </a:r>
            <a:r>
              <a:rPr lang="en-IN" dirty="0"/>
              <a:t> / </a:t>
            </a:r>
            <a:r>
              <a:rPr lang="en-IN" dirty="0" err="1"/>
              <a:t>material.h</a:t>
            </a:r>
            <a:r>
              <a:rPr lang="en-IN" dirty="0"/>
              <a:t>   -&gt; material properties</a:t>
            </a:r>
          </a:p>
          <a:p>
            <a:r>
              <a:rPr lang="en-IN" dirty="0"/>
              <a:t> 2. </a:t>
            </a:r>
            <a:r>
              <a:rPr lang="en-IN" dirty="0" err="1"/>
              <a:t>loads.c</a:t>
            </a:r>
            <a:r>
              <a:rPr lang="en-IN" dirty="0"/>
              <a:t> / </a:t>
            </a:r>
            <a:r>
              <a:rPr lang="en-IN" dirty="0" err="1"/>
              <a:t>loads.h</a:t>
            </a:r>
            <a:r>
              <a:rPr lang="en-IN" dirty="0"/>
              <a:t>         -&gt; load calculations</a:t>
            </a:r>
          </a:p>
          <a:p>
            <a:r>
              <a:rPr lang="en-IN" dirty="0"/>
              <a:t> 3. </a:t>
            </a:r>
            <a:r>
              <a:rPr lang="en-IN" dirty="0" err="1"/>
              <a:t>beam.c</a:t>
            </a:r>
            <a:r>
              <a:rPr lang="en-IN" dirty="0"/>
              <a:t> / </a:t>
            </a:r>
            <a:r>
              <a:rPr lang="en-IN" dirty="0" err="1"/>
              <a:t>beam.h</a:t>
            </a:r>
            <a:r>
              <a:rPr lang="en-IN" dirty="0"/>
              <a:t>           -&gt; simple beam design checks</a:t>
            </a:r>
          </a:p>
          <a:p>
            <a:r>
              <a:rPr lang="en-IN" dirty="0"/>
              <a:t> 4. </a:t>
            </a:r>
            <a:r>
              <a:rPr lang="en-IN" dirty="0" err="1"/>
              <a:t>main.c</a:t>
            </a:r>
            <a:r>
              <a:rPr lang="en-IN" dirty="0"/>
              <a:t>                    -&gt; menu &amp; integration</a:t>
            </a:r>
          </a:p>
          <a:p>
            <a:r>
              <a:rPr lang="en-IN" dirty="0"/>
              <a:t>*/</a:t>
            </a:r>
          </a:p>
          <a:p>
            <a:endParaRPr lang="en-IN" dirty="0"/>
          </a:p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/>
              <a:t>#include &lt;</a:t>
            </a:r>
            <a:r>
              <a:rPr lang="en-IN" dirty="0" err="1"/>
              <a:t>math.h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/* ================= MATERIAL MODULE ================= */</a:t>
            </a:r>
          </a:p>
          <a:p>
            <a:endParaRPr lang="en-IN" dirty="0"/>
          </a:p>
          <a:p>
            <a:r>
              <a:rPr lang="en-IN" dirty="0"/>
              <a:t>typedef struct {</a:t>
            </a:r>
          </a:p>
          <a:p>
            <a:r>
              <a:rPr lang="en-IN" dirty="0"/>
              <a:t>    char name[20];</a:t>
            </a:r>
          </a:p>
          <a:p>
            <a:r>
              <a:rPr lang="en-IN" dirty="0"/>
              <a:t>    double density;      // kg/m^3</a:t>
            </a:r>
          </a:p>
          <a:p>
            <a:r>
              <a:rPr lang="en-IN" dirty="0"/>
              <a:t>    double </a:t>
            </a:r>
            <a:r>
              <a:rPr lang="en-IN" dirty="0" err="1"/>
              <a:t>youngsModulus</a:t>
            </a:r>
            <a:r>
              <a:rPr lang="en-IN" dirty="0"/>
              <a:t>; // Pa</a:t>
            </a:r>
          </a:p>
          <a:p>
            <a:r>
              <a:rPr lang="en-IN" dirty="0"/>
              <a:t>    double </a:t>
            </a:r>
            <a:r>
              <a:rPr lang="en-IN" dirty="0" err="1"/>
              <a:t>yieldStress</a:t>
            </a:r>
            <a:r>
              <a:rPr lang="en-IN" dirty="0"/>
              <a:t>;  // Pa</a:t>
            </a:r>
          </a:p>
          <a:p>
            <a:r>
              <a:rPr lang="en-IN" dirty="0"/>
              <a:t>} Material;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0029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2C5F3E-7A26-A235-4180-F250BA69592E}"/>
              </a:ext>
            </a:extLst>
          </p:cNvPr>
          <p:cNvSpPr txBox="1"/>
          <p:nvPr/>
        </p:nvSpPr>
        <p:spPr>
          <a:xfrm>
            <a:off x="1616765" y="-159306"/>
            <a:ext cx="609600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Material </a:t>
            </a:r>
            <a:r>
              <a:rPr lang="en-IN" dirty="0" err="1"/>
              <a:t>createMaterial</a:t>
            </a:r>
            <a:r>
              <a:rPr lang="en-IN" dirty="0"/>
              <a:t>(</a:t>
            </a:r>
            <a:r>
              <a:rPr lang="en-IN" dirty="0" err="1"/>
              <a:t>const</a:t>
            </a:r>
            <a:r>
              <a:rPr lang="en-IN" dirty="0"/>
              <a:t> char *name, double density, double E, double </a:t>
            </a:r>
            <a:r>
              <a:rPr lang="en-IN" dirty="0" err="1"/>
              <a:t>fy</a:t>
            </a:r>
            <a:r>
              <a:rPr lang="en-IN" dirty="0"/>
              <a:t>) {</a:t>
            </a:r>
          </a:p>
          <a:p>
            <a:r>
              <a:rPr lang="en-IN" dirty="0"/>
              <a:t>    Material m;</a:t>
            </a:r>
          </a:p>
          <a:p>
            <a:r>
              <a:rPr lang="en-IN" dirty="0"/>
              <a:t>    </a:t>
            </a:r>
            <a:r>
              <a:rPr lang="en-IN" dirty="0" err="1"/>
              <a:t>snprintf</a:t>
            </a:r>
            <a:r>
              <a:rPr lang="en-IN" dirty="0"/>
              <a:t>(m.name, </a:t>
            </a:r>
            <a:r>
              <a:rPr lang="en-IN" dirty="0" err="1"/>
              <a:t>sizeof</a:t>
            </a:r>
            <a:r>
              <a:rPr lang="en-IN" dirty="0"/>
              <a:t>(m.name), "%s", name);</a:t>
            </a:r>
          </a:p>
          <a:p>
            <a:r>
              <a:rPr lang="en-IN" dirty="0"/>
              <a:t>    </a:t>
            </a:r>
            <a:r>
              <a:rPr lang="en-IN" dirty="0" err="1"/>
              <a:t>m.density</a:t>
            </a:r>
            <a:r>
              <a:rPr lang="en-IN" dirty="0"/>
              <a:t> = density;</a:t>
            </a:r>
          </a:p>
          <a:p>
            <a:r>
              <a:rPr lang="en-IN" dirty="0"/>
              <a:t>    </a:t>
            </a:r>
            <a:r>
              <a:rPr lang="en-IN" dirty="0" err="1"/>
              <a:t>m.youngsModulus</a:t>
            </a:r>
            <a:r>
              <a:rPr lang="en-IN" dirty="0"/>
              <a:t> = E;</a:t>
            </a:r>
          </a:p>
          <a:p>
            <a:r>
              <a:rPr lang="en-IN" dirty="0"/>
              <a:t>    </a:t>
            </a:r>
            <a:r>
              <a:rPr lang="en-IN" dirty="0" err="1"/>
              <a:t>m.yieldStress</a:t>
            </a:r>
            <a:r>
              <a:rPr lang="en-IN" dirty="0"/>
              <a:t> = </a:t>
            </a:r>
            <a:r>
              <a:rPr lang="en-IN" dirty="0" err="1"/>
              <a:t>fy</a:t>
            </a:r>
            <a:r>
              <a:rPr lang="en-IN" dirty="0"/>
              <a:t>;</a:t>
            </a:r>
          </a:p>
          <a:p>
            <a:r>
              <a:rPr lang="en-IN" dirty="0"/>
              <a:t>    return m;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void </a:t>
            </a:r>
            <a:r>
              <a:rPr lang="en-IN" dirty="0" err="1"/>
              <a:t>printMaterial</a:t>
            </a:r>
            <a:r>
              <a:rPr lang="en-IN" dirty="0"/>
              <a:t>(Material m) {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("Material: %s\n", m.name);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("Density: %.2f kg/m^3\n", </a:t>
            </a:r>
            <a:r>
              <a:rPr lang="en-IN" dirty="0" err="1"/>
              <a:t>m.density</a:t>
            </a:r>
            <a:r>
              <a:rPr lang="en-IN" dirty="0"/>
              <a:t>);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("Young's Modulus: %.2e Pa\n", </a:t>
            </a:r>
            <a:r>
              <a:rPr lang="en-IN" dirty="0" err="1"/>
              <a:t>m.youngsModulus</a:t>
            </a:r>
            <a:r>
              <a:rPr lang="en-IN" dirty="0"/>
              <a:t>);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("Yield Stress: %.2e Pa\n", </a:t>
            </a:r>
            <a:r>
              <a:rPr lang="en-IN" dirty="0" err="1"/>
              <a:t>m.yieldStress</a:t>
            </a:r>
            <a:r>
              <a:rPr lang="en-IN" dirty="0"/>
              <a:t>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/* ================= LOAD MODULE ================= */</a:t>
            </a:r>
          </a:p>
          <a:p>
            <a:endParaRPr lang="en-IN" dirty="0"/>
          </a:p>
          <a:p>
            <a:r>
              <a:rPr lang="en-IN" dirty="0"/>
              <a:t>double </a:t>
            </a:r>
            <a:r>
              <a:rPr lang="en-IN" dirty="0" err="1"/>
              <a:t>uniformLoad</a:t>
            </a:r>
            <a:r>
              <a:rPr lang="en-IN" dirty="0"/>
              <a:t>(double </a:t>
            </a:r>
            <a:r>
              <a:rPr lang="en-IN" dirty="0" err="1"/>
              <a:t>loadPerMeter</a:t>
            </a:r>
            <a:r>
              <a:rPr lang="en-IN" dirty="0"/>
              <a:t>, double length) {</a:t>
            </a:r>
          </a:p>
          <a:p>
            <a:r>
              <a:rPr lang="en-IN" dirty="0"/>
              <a:t>    return </a:t>
            </a:r>
            <a:r>
              <a:rPr lang="en-IN" dirty="0" err="1"/>
              <a:t>loadPerMeter</a:t>
            </a:r>
            <a:r>
              <a:rPr lang="en-IN" dirty="0"/>
              <a:t> * length; // Total load (N)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521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2E5A99-EBDE-1AB0-8262-AE944C61AA4E}"/>
              </a:ext>
            </a:extLst>
          </p:cNvPr>
          <p:cNvSpPr txBox="1"/>
          <p:nvPr/>
        </p:nvSpPr>
        <p:spPr>
          <a:xfrm>
            <a:off x="1762540" y="0"/>
            <a:ext cx="60960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double </a:t>
            </a:r>
            <a:r>
              <a:rPr lang="en-IN" dirty="0" err="1"/>
              <a:t>pointLoadMoment</a:t>
            </a:r>
            <a:r>
              <a:rPr lang="en-IN" dirty="0"/>
              <a:t>(double load, double distance) {</a:t>
            </a:r>
          </a:p>
          <a:p>
            <a:r>
              <a:rPr lang="en-IN" dirty="0"/>
              <a:t>    return load * distance; // Moment (Nm)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/* ================= BEAM MODULE ================= */</a:t>
            </a:r>
          </a:p>
          <a:p>
            <a:endParaRPr lang="en-IN" dirty="0"/>
          </a:p>
          <a:p>
            <a:r>
              <a:rPr lang="en-IN" dirty="0"/>
              <a:t>typedef struct {</a:t>
            </a:r>
          </a:p>
          <a:p>
            <a:r>
              <a:rPr lang="en-IN" dirty="0"/>
              <a:t>    double width;  // m</a:t>
            </a:r>
          </a:p>
          <a:p>
            <a:r>
              <a:rPr lang="en-IN" dirty="0"/>
              <a:t>    double height; // m</a:t>
            </a:r>
          </a:p>
          <a:p>
            <a:r>
              <a:rPr lang="en-IN" dirty="0"/>
              <a:t>} </a:t>
            </a:r>
            <a:r>
              <a:rPr lang="en-IN" dirty="0" err="1"/>
              <a:t>RectangularSection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double </a:t>
            </a:r>
            <a:r>
              <a:rPr lang="en-IN" dirty="0" err="1"/>
              <a:t>momentOfInertia</a:t>
            </a:r>
            <a:r>
              <a:rPr lang="en-IN" dirty="0"/>
              <a:t>(</a:t>
            </a:r>
            <a:r>
              <a:rPr lang="en-IN" dirty="0" err="1"/>
              <a:t>RectangularSection</a:t>
            </a:r>
            <a:r>
              <a:rPr lang="en-IN" dirty="0"/>
              <a:t> s) {</a:t>
            </a:r>
          </a:p>
          <a:p>
            <a:r>
              <a:rPr lang="en-IN" dirty="0"/>
              <a:t>    return (</a:t>
            </a:r>
            <a:r>
              <a:rPr lang="en-IN" dirty="0" err="1"/>
              <a:t>s.width</a:t>
            </a:r>
            <a:r>
              <a:rPr lang="en-IN" dirty="0"/>
              <a:t> * pow(</a:t>
            </a:r>
            <a:r>
              <a:rPr lang="en-IN" dirty="0" err="1"/>
              <a:t>s.height</a:t>
            </a:r>
            <a:r>
              <a:rPr lang="en-IN" dirty="0"/>
              <a:t>, 3)) / 12.0;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double </a:t>
            </a:r>
            <a:r>
              <a:rPr lang="en-IN" dirty="0" err="1"/>
              <a:t>bendingStress</a:t>
            </a:r>
            <a:r>
              <a:rPr lang="en-IN" dirty="0"/>
              <a:t>(double moment, </a:t>
            </a:r>
            <a:r>
              <a:rPr lang="en-IN" dirty="0" err="1"/>
              <a:t>RectangularSection</a:t>
            </a:r>
            <a:r>
              <a:rPr lang="en-IN" dirty="0"/>
              <a:t> s) {</a:t>
            </a:r>
          </a:p>
          <a:p>
            <a:r>
              <a:rPr lang="en-IN" dirty="0"/>
              <a:t>    double I = </a:t>
            </a:r>
            <a:r>
              <a:rPr lang="en-IN" dirty="0" err="1"/>
              <a:t>momentOfInertia</a:t>
            </a:r>
            <a:r>
              <a:rPr lang="en-IN" dirty="0"/>
              <a:t>(s);</a:t>
            </a:r>
          </a:p>
          <a:p>
            <a:r>
              <a:rPr lang="en-IN" dirty="0"/>
              <a:t>    double y = </a:t>
            </a:r>
            <a:r>
              <a:rPr lang="en-IN" dirty="0" err="1"/>
              <a:t>s.height</a:t>
            </a:r>
            <a:r>
              <a:rPr lang="en-IN" dirty="0"/>
              <a:t> / 2.0;</a:t>
            </a:r>
          </a:p>
          <a:p>
            <a:r>
              <a:rPr lang="en-IN" dirty="0"/>
              <a:t>    return (moment * y) / I;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int </a:t>
            </a:r>
            <a:r>
              <a:rPr lang="en-IN" dirty="0" err="1"/>
              <a:t>isBeamSafe</a:t>
            </a:r>
            <a:r>
              <a:rPr lang="en-IN" dirty="0"/>
              <a:t>(double stress, Material m) {</a:t>
            </a:r>
          </a:p>
          <a:p>
            <a:r>
              <a:rPr lang="en-IN" dirty="0"/>
              <a:t>    return stress &lt;= </a:t>
            </a:r>
            <a:r>
              <a:rPr lang="en-IN" dirty="0" err="1"/>
              <a:t>m.yieldStress</a:t>
            </a:r>
            <a:r>
              <a:rPr lang="en-IN" dirty="0"/>
              <a:t>;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1239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646378-7524-1FD3-BF27-FECBC5648E8A}"/>
              </a:ext>
            </a:extLst>
          </p:cNvPr>
          <p:cNvSpPr txBox="1"/>
          <p:nvPr/>
        </p:nvSpPr>
        <p:spPr>
          <a:xfrm>
            <a:off x="1524000" y="0"/>
            <a:ext cx="6096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/* ================= MAIN MODULE ================= */</a:t>
            </a:r>
          </a:p>
          <a:p>
            <a:endParaRPr lang="en-IN" dirty="0"/>
          </a:p>
          <a:p>
            <a:r>
              <a:rPr lang="en-IN" dirty="0"/>
              <a:t>int main() {</a:t>
            </a:r>
          </a:p>
          <a:p>
            <a:r>
              <a:rPr lang="en-IN" dirty="0"/>
              <a:t>    int choice;</a:t>
            </a:r>
          </a:p>
          <a:p>
            <a:endParaRPr lang="en-IN" dirty="0"/>
          </a:p>
          <a:p>
            <a:r>
              <a:rPr lang="en-IN" dirty="0"/>
              <a:t>    Material steel = </a:t>
            </a:r>
            <a:r>
              <a:rPr lang="en-IN" dirty="0" err="1"/>
              <a:t>createMaterial</a:t>
            </a:r>
            <a:r>
              <a:rPr lang="en-IN" dirty="0"/>
              <a:t>("Steel", 7850, 2.0e11, 250e6);</a:t>
            </a:r>
          </a:p>
          <a:p>
            <a:r>
              <a:rPr lang="en-IN" dirty="0"/>
              <a:t>    </a:t>
            </a:r>
            <a:r>
              <a:rPr lang="en-IN" dirty="0" err="1"/>
              <a:t>RectangularSection</a:t>
            </a:r>
            <a:r>
              <a:rPr lang="en-IN" dirty="0"/>
              <a:t> beam;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("STRUCTURAL &amp; MATERIAL DESIGN CALCULATOR\n");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("-----------------------------------\n");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("1. View Material Properties\n");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("2. Beam Bending Stress Check\n");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choice: ");</a:t>
            </a:r>
          </a:p>
          <a:p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("%d", &amp;choice);</a:t>
            </a:r>
          </a:p>
          <a:p>
            <a:endParaRPr lang="en-IN" dirty="0"/>
          </a:p>
          <a:p>
            <a:r>
              <a:rPr lang="en-IN" dirty="0"/>
              <a:t>    if (choice == 1) {</a:t>
            </a:r>
          </a:p>
          <a:p>
            <a:r>
              <a:rPr lang="en-IN" dirty="0"/>
              <a:t>        </a:t>
            </a:r>
            <a:r>
              <a:rPr lang="en-IN" dirty="0" err="1"/>
              <a:t>printMaterial</a:t>
            </a:r>
            <a:r>
              <a:rPr lang="en-IN" dirty="0"/>
              <a:t>(steel);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else if (choice == 2) {</a:t>
            </a:r>
          </a:p>
          <a:p>
            <a:r>
              <a:rPr lang="en-IN" dirty="0"/>
              <a:t>        double </a:t>
            </a:r>
            <a:r>
              <a:rPr lang="en-IN" dirty="0" err="1"/>
              <a:t>loadPerMeter</a:t>
            </a:r>
            <a:r>
              <a:rPr lang="en-IN" dirty="0"/>
              <a:t>, length;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0199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A4CD9E-1862-1659-78E3-510A111A92BF}"/>
              </a:ext>
            </a:extLst>
          </p:cNvPr>
          <p:cNvSpPr txBox="1"/>
          <p:nvPr/>
        </p:nvSpPr>
        <p:spPr>
          <a:xfrm>
            <a:off x="1590261" y="0"/>
            <a:ext cx="6096000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 </a:t>
            </a:r>
            <a:r>
              <a:rPr lang="en-IN" sz="1600" dirty="0" err="1"/>
              <a:t>printf</a:t>
            </a:r>
            <a:r>
              <a:rPr lang="en-IN" sz="1600" dirty="0"/>
              <a:t>("Enter beam width (m): ");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scanf</a:t>
            </a:r>
            <a:r>
              <a:rPr lang="en-IN" sz="1600" dirty="0"/>
              <a:t>("%</a:t>
            </a:r>
            <a:r>
              <a:rPr lang="en-IN" sz="1600" dirty="0" err="1"/>
              <a:t>lf</a:t>
            </a:r>
            <a:r>
              <a:rPr lang="en-IN" sz="1600" dirty="0"/>
              <a:t>", &amp;</a:t>
            </a:r>
            <a:r>
              <a:rPr lang="en-IN" sz="1600" dirty="0" err="1"/>
              <a:t>beam.width</a:t>
            </a:r>
            <a:r>
              <a:rPr lang="en-IN" sz="1600" dirty="0"/>
              <a:t>);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("Enter beam height (m): ");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scanf</a:t>
            </a:r>
            <a:r>
              <a:rPr lang="en-IN" sz="1600" dirty="0"/>
              <a:t>("%</a:t>
            </a:r>
            <a:r>
              <a:rPr lang="en-IN" sz="1600" dirty="0" err="1"/>
              <a:t>lf</a:t>
            </a:r>
            <a:r>
              <a:rPr lang="en-IN" sz="1600" dirty="0"/>
              <a:t>", &amp;</a:t>
            </a:r>
            <a:r>
              <a:rPr lang="en-IN" sz="1600" dirty="0" err="1"/>
              <a:t>beam.height</a:t>
            </a:r>
            <a:r>
              <a:rPr lang="en-IN" sz="1600" dirty="0"/>
              <a:t>);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("Enter uniform load (N/m): ");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scanf</a:t>
            </a:r>
            <a:r>
              <a:rPr lang="en-IN" sz="1600" dirty="0"/>
              <a:t>("%</a:t>
            </a:r>
            <a:r>
              <a:rPr lang="en-IN" sz="1600" dirty="0" err="1"/>
              <a:t>lf</a:t>
            </a:r>
            <a:r>
              <a:rPr lang="en-IN" sz="1600" dirty="0"/>
              <a:t>", &amp;</a:t>
            </a:r>
            <a:r>
              <a:rPr lang="en-IN" sz="1600" dirty="0" err="1"/>
              <a:t>loadPerMeter</a:t>
            </a:r>
            <a:r>
              <a:rPr lang="en-IN" sz="1600" dirty="0"/>
              <a:t>);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("Enter beam length (m): ");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scanf</a:t>
            </a:r>
            <a:r>
              <a:rPr lang="en-IN" sz="1600" dirty="0"/>
              <a:t>("%</a:t>
            </a:r>
            <a:r>
              <a:rPr lang="en-IN" sz="1600" dirty="0" err="1"/>
              <a:t>lf</a:t>
            </a:r>
            <a:r>
              <a:rPr lang="en-IN" sz="1600" dirty="0"/>
              <a:t>", &amp;length);</a:t>
            </a:r>
          </a:p>
          <a:p>
            <a:endParaRPr lang="en-IN" sz="1600" dirty="0"/>
          </a:p>
          <a:p>
            <a:r>
              <a:rPr lang="en-IN" sz="1600" dirty="0"/>
              <a:t>        double </a:t>
            </a:r>
            <a:r>
              <a:rPr lang="en-IN" sz="1600" dirty="0" err="1"/>
              <a:t>totalLoad</a:t>
            </a:r>
            <a:r>
              <a:rPr lang="en-IN" sz="1600" dirty="0"/>
              <a:t> = </a:t>
            </a:r>
            <a:r>
              <a:rPr lang="en-IN" sz="1600" dirty="0" err="1"/>
              <a:t>uniformLoad</a:t>
            </a:r>
            <a:r>
              <a:rPr lang="en-IN" sz="1600" dirty="0"/>
              <a:t>(</a:t>
            </a:r>
            <a:r>
              <a:rPr lang="en-IN" sz="1600" dirty="0" err="1"/>
              <a:t>loadPerMeter</a:t>
            </a:r>
            <a:r>
              <a:rPr lang="en-IN" sz="1600" dirty="0"/>
              <a:t>, length);</a:t>
            </a:r>
          </a:p>
          <a:p>
            <a:r>
              <a:rPr lang="en-IN" sz="1600" dirty="0"/>
              <a:t>        double </a:t>
            </a:r>
            <a:r>
              <a:rPr lang="en-IN" sz="1600" dirty="0" err="1"/>
              <a:t>maxMoment</a:t>
            </a:r>
            <a:r>
              <a:rPr lang="en-IN" sz="1600" dirty="0"/>
              <a:t> = (</a:t>
            </a:r>
            <a:r>
              <a:rPr lang="en-IN" sz="1600" dirty="0" err="1"/>
              <a:t>totalLoad</a:t>
            </a:r>
            <a:r>
              <a:rPr lang="en-IN" sz="1600" dirty="0"/>
              <a:t> * length) / 8.0; // Simply supported beam</a:t>
            </a:r>
          </a:p>
          <a:p>
            <a:r>
              <a:rPr lang="en-IN" sz="1600" dirty="0"/>
              <a:t>        double stress = </a:t>
            </a:r>
            <a:r>
              <a:rPr lang="en-IN" sz="1600" dirty="0" err="1"/>
              <a:t>bendingStress</a:t>
            </a:r>
            <a:r>
              <a:rPr lang="en-IN" sz="1600" dirty="0"/>
              <a:t>(</a:t>
            </a:r>
            <a:r>
              <a:rPr lang="en-IN" sz="1600" dirty="0" err="1"/>
              <a:t>maxMoment</a:t>
            </a:r>
            <a:r>
              <a:rPr lang="en-IN" sz="1600" dirty="0"/>
              <a:t>, beam);</a:t>
            </a:r>
          </a:p>
          <a:p>
            <a:endParaRPr lang="en-IN" sz="1600" dirty="0"/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("Max bending stress: %.2e Pa\n", stress);</a:t>
            </a:r>
          </a:p>
          <a:p>
            <a:endParaRPr lang="en-IN" sz="1600" dirty="0"/>
          </a:p>
          <a:p>
            <a:r>
              <a:rPr lang="en-IN" sz="1600" dirty="0"/>
              <a:t>        if (</a:t>
            </a:r>
            <a:r>
              <a:rPr lang="en-IN" sz="1600" dirty="0" err="1"/>
              <a:t>isBeamSafe</a:t>
            </a:r>
            <a:r>
              <a:rPr lang="en-IN" sz="1600" dirty="0"/>
              <a:t>(stress, steel))</a:t>
            </a:r>
          </a:p>
          <a:p>
            <a:r>
              <a:rPr lang="en-IN" sz="1600" dirty="0"/>
              <a:t>            </a:t>
            </a:r>
            <a:r>
              <a:rPr lang="en-IN" sz="1600" dirty="0" err="1"/>
              <a:t>printf</a:t>
            </a:r>
            <a:r>
              <a:rPr lang="en-IN" sz="1600" dirty="0"/>
              <a:t>("Beam is SAFE under bending.\n");</a:t>
            </a:r>
          </a:p>
          <a:p>
            <a:r>
              <a:rPr lang="en-IN" sz="1600" dirty="0"/>
              <a:t>        else</a:t>
            </a:r>
          </a:p>
          <a:p>
            <a:r>
              <a:rPr lang="en-IN" sz="1600" dirty="0"/>
              <a:t>            </a:t>
            </a:r>
            <a:r>
              <a:rPr lang="en-IN" sz="1600" dirty="0" err="1"/>
              <a:t>printf</a:t>
            </a:r>
            <a:r>
              <a:rPr lang="en-IN" sz="1600" dirty="0"/>
              <a:t>("Beam is NOT SAFE under bending.\n");</a:t>
            </a:r>
          </a:p>
          <a:p>
            <a:r>
              <a:rPr lang="en-IN" sz="1600" dirty="0"/>
              <a:t>    }</a:t>
            </a:r>
          </a:p>
          <a:p>
            <a:r>
              <a:rPr lang="en-IN" sz="1600" dirty="0"/>
              <a:t>    else {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("Invalid choice.\n");</a:t>
            </a:r>
          </a:p>
          <a:p>
            <a:r>
              <a:rPr lang="en-IN" sz="1600" dirty="0"/>
              <a:t>    }</a:t>
            </a:r>
            <a:endParaRPr lang="en-IN" dirty="0"/>
          </a:p>
          <a:p>
            <a:r>
              <a:rPr lang="en-IN" dirty="0"/>
              <a:t>    </a:t>
            </a:r>
            <a:r>
              <a:rPr lang="en-IN" sz="1600" dirty="0"/>
              <a:t>return 0;</a:t>
            </a:r>
          </a:p>
          <a:p>
            <a:r>
              <a:rPr lang="en-IN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39211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240</TotalTime>
  <Words>739</Words>
  <Application>Microsoft Office PowerPoint</Application>
  <PresentationFormat>Widescreen</PresentationFormat>
  <Paragraphs>112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</cp:revision>
  <dcterms:created xsi:type="dcterms:W3CDTF">2025-12-05T14:00:38Z</dcterms:created>
  <dcterms:modified xsi:type="dcterms:W3CDTF">2025-12-15T12:34:44Z</dcterms:modified>
</cp:coreProperties>
</file>