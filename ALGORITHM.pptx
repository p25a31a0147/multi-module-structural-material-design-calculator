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sldIdLst>
    <p:sldId id="267"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91" autoAdjust="0"/>
  </p:normalViewPr>
  <p:slideViewPr>
    <p:cSldViewPr snapToGrid="0">
      <p:cViewPr varScale="1">
        <p:scale>
          <a:sx n="72" d="100"/>
          <a:sy n="72" d="100"/>
        </p:scale>
        <p:origin x="660" y="78"/>
      </p:cViewPr>
      <p:guideLst/>
    </p:cSldViewPr>
  </p:slideViewPr>
  <p:notesTextViewPr>
    <p:cViewPr>
      <p:scale>
        <a:sx n="1" d="1"/>
        <a:sy n="1" d="1"/>
      </p:scale>
      <p:origin x="0" y="0"/>
    </p:cViewPr>
  </p:notesTextViewPr>
  <p:sorterViewPr>
    <p:cViewPr>
      <p:scale>
        <a:sx n="130" d="100"/>
        <a:sy n="130" d="100"/>
      </p:scale>
      <p:origin x="0" y="-3238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33100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263990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2165813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3B5A4B-8A0B-48D8-8646-ACD6D3A861FD}"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989710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3B5A4B-8A0B-48D8-8646-ACD6D3A861FD}" type="datetimeFigureOut">
              <a:rPr lang="en-IN" smtClean="0"/>
              <a:t>15-12-2025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11827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3B5A4B-8A0B-48D8-8646-ACD6D3A861FD}" type="datetimeFigureOut">
              <a:rPr lang="en-IN" smtClean="0"/>
              <a:t>15-12-2025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255029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3B5A4B-8A0B-48D8-8646-ACD6D3A861FD}" type="datetimeFigureOut">
              <a:rPr lang="en-IN" smtClean="0"/>
              <a:t>15-12-2025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818154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3B5A4B-8A0B-48D8-8646-ACD6D3A861FD}"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933225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3B5A4B-8A0B-48D8-8646-ACD6D3A861FD}"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86789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3B5A4B-8A0B-48D8-8646-ACD6D3A861FD}" type="datetimeFigureOut">
              <a:rPr lang="en-IN" smtClean="0"/>
              <a:t>15-12-2025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095007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333867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490063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634389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9120167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4037470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3968860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10104464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B8887-E8B8-68AE-CE6D-56ABFF8BCB4E}"/>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2D5529-8723-2414-FEE0-9C296DDD8287}"/>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2C178E-E9B5-19C1-E305-CD3861838F13}"/>
              </a:ext>
            </a:extLst>
          </p:cNvPr>
          <p:cNvSpPr>
            <a:spLocks noGrp="1"/>
          </p:cNvSpPr>
          <p:nvPr>
            <p:ph type="dt" sz="half" idx="10"/>
          </p:nvPr>
        </p:nvSpPr>
        <p:spPr/>
        <p:txBody>
          <a:bodyPr/>
          <a:lstStyle/>
          <a:p>
            <a:fld id="{AD3B5A4B-8A0B-48D8-8646-ACD6D3A861FD}" type="datetimeFigureOut">
              <a:rPr lang="en-IN" smtClean="0"/>
              <a:t>15-12-2025</a:t>
            </a:fld>
            <a:endParaRPr lang="en-IN"/>
          </a:p>
        </p:txBody>
      </p:sp>
      <p:sp>
        <p:nvSpPr>
          <p:cNvPr id="5" name="Footer Placeholder 4">
            <a:extLst>
              <a:ext uri="{FF2B5EF4-FFF2-40B4-BE49-F238E27FC236}">
                <a16:creationId xmlns:a16="http://schemas.microsoft.com/office/drawing/2014/main" id="{59475298-7388-4DAF-A1C4-84750693C3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7EC87C-12F7-99ED-BE54-0325C348D88B}"/>
              </a:ext>
            </a:extLst>
          </p:cNvPr>
          <p:cNvSpPr>
            <a:spLocks noGrp="1"/>
          </p:cNvSpPr>
          <p:nvPr>
            <p:ph type="sldNum" sz="quarter" idx="12"/>
          </p:nvPr>
        </p:nvSpPr>
        <p:spPr/>
        <p:txBody>
          <a:bodyPr/>
          <a:lstStyle/>
          <a:p>
            <a:fld id="{8227A3AA-1CB8-4428-A876-1E9E25BD8092}" type="slidenum">
              <a:rPr lang="en-IN" smtClean="0"/>
              <a:t>‹#›</a:t>
            </a:fld>
            <a:endParaRPr lang="en-IN"/>
          </a:p>
        </p:txBody>
      </p:sp>
    </p:spTree>
    <p:extLst>
      <p:ext uri="{BB962C8B-B14F-4D97-AF65-F5344CB8AC3E}">
        <p14:creationId xmlns:p14="http://schemas.microsoft.com/office/powerpoint/2010/main" val="229478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D3B5A4B-8A0B-48D8-8646-ACD6D3A861FD}" type="datetimeFigureOut">
              <a:rPr lang="en-IN" smtClean="0"/>
              <a:t>15-12-2025</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227A3AA-1CB8-4428-A876-1E9E25BD8092}" type="slidenum">
              <a:rPr lang="en-IN" smtClean="0"/>
              <a:t>‹#›</a:t>
            </a:fld>
            <a:endParaRPr lang="en-IN"/>
          </a:p>
        </p:txBody>
      </p:sp>
    </p:spTree>
    <p:extLst>
      <p:ext uri="{BB962C8B-B14F-4D97-AF65-F5344CB8AC3E}">
        <p14:creationId xmlns:p14="http://schemas.microsoft.com/office/powerpoint/2010/main" val="214826834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643E-CA79-8FB6-0C0F-45D5300C6026}"/>
              </a:ext>
            </a:extLst>
          </p:cNvPr>
          <p:cNvSpPr>
            <a:spLocks noGrp="1"/>
          </p:cNvSpPr>
          <p:nvPr>
            <p:ph type="title"/>
          </p:nvPr>
        </p:nvSpPr>
        <p:spPr>
          <a:xfrm>
            <a:off x="-1568378" y="2317653"/>
            <a:ext cx="10018713" cy="1752599"/>
          </a:xfrm>
        </p:spPr>
        <p:txBody>
          <a:bodyPr>
            <a:normAutofit fontScale="90000"/>
          </a:bodyPr>
          <a:lstStyle/>
          <a:p>
            <a:br>
              <a:rPr lang="en-IN" sz="1400" dirty="0"/>
            </a:br>
            <a:br>
              <a:rPr lang="en-IN" sz="1400" dirty="0"/>
            </a:br>
            <a:r>
              <a:rPr lang="en-IN" sz="3600" b="1" dirty="0"/>
              <a:t>Main Algorithm:</a:t>
            </a:r>
            <a:br>
              <a:rPr lang="en-IN" sz="1400" dirty="0"/>
            </a:br>
            <a:br>
              <a:rPr lang="en-IN" sz="1400" dirty="0"/>
            </a:br>
            <a:r>
              <a:rPr lang="en-IN" sz="1800" b="1" dirty="0"/>
              <a:t>Step 1</a:t>
            </a:r>
            <a:r>
              <a:rPr lang="en-IN" sz="1600" dirty="0"/>
              <a:t>:       START</a:t>
            </a:r>
            <a:br>
              <a:rPr lang="en-IN" sz="1600" dirty="0"/>
            </a:br>
            <a:br>
              <a:rPr lang="en-IN" sz="1600" dirty="0"/>
            </a:br>
            <a:r>
              <a:rPr lang="en-IN" sz="1800" b="1" dirty="0"/>
              <a:t>Step 2</a:t>
            </a:r>
            <a:r>
              <a:rPr lang="en-IN" sz="1600" dirty="0"/>
              <a:t>: Display Main Menu</a:t>
            </a:r>
            <a:br>
              <a:rPr lang="en-IN" sz="1600" dirty="0"/>
            </a:br>
            <a:br>
              <a:rPr lang="en-IN" sz="1600" dirty="0"/>
            </a:br>
            <a:r>
              <a:rPr lang="en-IN" sz="1600" dirty="0"/>
              <a:t>                     1. Beam Design Calculator</a:t>
            </a:r>
            <a:br>
              <a:rPr lang="en-IN" sz="1600" dirty="0"/>
            </a:br>
            <a:br>
              <a:rPr lang="en-IN" sz="1600" dirty="0"/>
            </a:br>
            <a:r>
              <a:rPr lang="en-IN" sz="1600" dirty="0"/>
              <a:t>                          2. Column Design Calculator</a:t>
            </a:r>
            <a:br>
              <a:rPr lang="en-IN" sz="1600" dirty="0"/>
            </a:br>
            <a:r>
              <a:rPr lang="en-IN" sz="1600" dirty="0"/>
              <a:t> </a:t>
            </a:r>
            <a:br>
              <a:rPr lang="en-IN" sz="1600" dirty="0"/>
            </a:br>
            <a:r>
              <a:rPr lang="en-IN" sz="1600" dirty="0"/>
              <a:t>                   3. Slab Design Calculator</a:t>
            </a:r>
            <a:br>
              <a:rPr lang="en-IN" sz="1600" dirty="0"/>
            </a:br>
            <a:br>
              <a:rPr lang="en-IN" sz="1600" dirty="0"/>
            </a:br>
            <a:r>
              <a:rPr lang="en-IN" sz="1600" dirty="0"/>
              <a:t>                           4. Footing Design Calculator</a:t>
            </a:r>
            <a:br>
              <a:rPr lang="en-IN" sz="1600" dirty="0"/>
            </a:br>
            <a:br>
              <a:rPr lang="en-IN" sz="1600" dirty="0"/>
            </a:br>
            <a:r>
              <a:rPr lang="en-IN" sz="1600" dirty="0"/>
              <a:t>5. Truss Analysis</a:t>
            </a:r>
            <a:br>
              <a:rPr lang="en-IN" sz="1600" dirty="0"/>
            </a:br>
            <a:br>
              <a:rPr lang="en-IN" sz="1600" dirty="0"/>
            </a:br>
            <a:r>
              <a:rPr lang="en-IN" sz="1600" dirty="0"/>
              <a:t>                                  6. Material Properties Calculator</a:t>
            </a:r>
            <a:br>
              <a:rPr lang="en-IN" sz="1600" dirty="0"/>
            </a:br>
            <a:br>
              <a:rPr lang="en-IN" sz="1600" dirty="0"/>
            </a:br>
            <a:r>
              <a:rPr lang="en-IN" sz="1600" dirty="0"/>
              <a:t>   7. Load Calculator</a:t>
            </a:r>
            <a:br>
              <a:rPr lang="en-IN" sz="1600" dirty="0"/>
            </a:br>
            <a:br>
              <a:rPr lang="en-IN" sz="1600" dirty="0"/>
            </a:br>
            <a:r>
              <a:rPr lang="en-IN" sz="1600" dirty="0"/>
              <a:t>             8. Deflection Calculator</a:t>
            </a:r>
            <a:br>
              <a:rPr lang="en-IN" sz="1600" dirty="0"/>
            </a:br>
            <a:br>
              <a:rPr lang="en-IN" sz="1600" dirty="0"/>
            </a:br>
            <a:r>
              <a:rPr lang="en-IN" sz="1600" dirty="0"/>
              <a:t>                                        9. Shear Force and Bending Moment</a:t>
            </a:r>
            <a:br>
              <a:rPr lang="en-IN" sz="1600" dirty="0"/>
            </a:br>
            <a:br>
              <a:rPr lang="en-IN" sz="1600" dirty="0"/>
            </a:br>
            <a:r>
              <a:rPr lang="en-IN" sz="1600" dirty="0"/>
              <a:t>                  10. Steel Design Calculator</a:t>
            </a:r>
            <a:br>
              <a:rPr lang="en-IN" sz="1600" dirty="0"/>
            </a:br>
            <a:br>
              <a:rPr lang="en-IN" sz="1600" dirty="0"/>
            </a:br>
            <a:r>
              <a:rPr lang="en-IN" sz="1600" dirty="0"/>
              <a:t>      11. Save/Load Design</a:t>
            </a:r>
            <a:br>
              <a:rPr lang="en-IN" sz="1600" dirty="0"/>
            </a:br>
            <a:br>
              <a:rPr lang="en-IN" sz="1600" dirty="0"/>
            </a:br>
            <a:r>
              <a:rPr lang="en-IN" sz="1600" dirty="0"/>
              <a:t>12. Exit</a:t>
            </a:r>
            <a:br>
              <a:rPr lang="en-IN" sz="1600" dirty="0"/>
            </a:br>
            <a:br>
              <a:rPr lang="en-IN" sz="1300" dirty="0"/>
            </a:br>
            <a:endParaRPr lang="en-IN" sz="1300" dirty="0"/>
          </a:p>
        </p:txBody>
      </p:sp>
    </p:spTree>
    <p:extLst>
      <p:ext uri="{BB962C8B-B14F-4D97-AF65-F5344CB8AC3E}">
        <p14:creationId xmlns:p14="http://schemas.microsoft.com/office/powerpoint/2010/main" val="279158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304DB-9BA3-D8CA-7D72-F25E7221775B}"/>
              </a:ext>
            </a:extLst>
          </p:cNvPr>
          <p:cNvSpPr>
            <a:spLocks noGrp="1"/>
          </p:cNvSpPr>
          <p:nvPr>
            <p:ph type="title"/>
          </p:nvPr>
        </p:nvSpPr>
        <p:spPr/>
        <p:txBody>
          <a:bodyPr>
            <a:normAutofit/>
          </a:bodyPr>
          <a:lstStyle/>
          <a:p>
            <a:br>
              <a:rPr lang="en-IN" sz="1400" dirty="0"/>
            </a:br>
            <a:br>
              <a:rPr lang="en-IN" sz="1400" dirty="0"/>
            </a:br>
            <a:br>
              <a:rPr lang="en-IN" sz="1400" dirty="0"/>
            </a:br>
            <a:endParaRPr lang="en-IN" sz="1400" dirty="0"/>
          </a:p>
        </p:txBody>
      </p:sp>
      <p:sp>
        <p:nvSpPr>
          <p:cNvPr id="3" name="Text Placeholder 2">
            <a:extLst>
              <a:ext uri="{FF2B5EF4-FFF2-40B4-BE49-F238E27FC236}">
                <a16:creationId xmlns:a16="http://schemas.microsoft.com/office/drawing/2014/main" id="{FBF4300A-4268-7F80-D231-2F3695CF183E}"/>
              </a:ext>
            </a:extLst>
          </p:cNvPr>
          <p:cNvSpPr>
            <a:spLocks noGrp="1"/>
          </p:cNvSpPr>
          <p:nvPr>
            <p:ph type="body" idx="1"/>
          </p:nvPr>
        </p:nvSpPr>
        <p:spPr>
          <a:xfrm>
            <a:off x="1357701" y="1562099"/>
            <a:ext cx="10018713" cy="3124201"/>
          </a:xfrm>
        </p:spPr>
        <p:txBody>
          <a:bodyPr>
            <a:noAutofit/>
          </a:bodyPr>
          <a:lstStyle/>
          <a:p>
            <a:r>
              <a:rPr lang="en-IN" sz="1400" dirty="0"/>
              <a:t>Step 3: INPUT user choice</a:t>
            </a:r>
            <a:br>
              <a:rPr lang="en-IN" sz="1400" dirty="0"/>
            </a:br>
            <a:br>
              <a:rPr lang="en-IN" sz="1400" dirty="0"/>
            </a:br>
            <a:r>
              <a:rPr lang="en-IN" sz="1400" dirty="0"/>
              <a:t>Module 1: Beam Design Calculator</a:t>
            </a:r>
            <a:br>
              <a:rPr lang="en-IN" sz="1400" dirty="0"/>
            </a:br>
            <a:br>
              <a:rPr lang="en-IN" sz="1400" dirty="0"/>
            </a:br>
            <a:r>
              <a:rPr lang="en-IN" sz="1400" dirty="0"/>
              <a:t>Step 4: IF choice = 1 (Beam Design Calculator)</a:t>
            </a:r>
            <a:br>
              <a:rPr lang="en-IN" sz="1400" dirty="0"/>
            </a:br>
            <a:br>
              <a:rPr lang="en-IN" sz="1400" dirty="0"/>
            </a:br>
            <a:r>
              <a:rPr lang="en-IN" sz="1400" dirty="0"/>
              <a:t>Step 4.1: Display Beam Design Sub-Menu:</a:t>
            </a:r>
            <a:br>
              <a:rPr lang="en-IN" sz="1400" dirty="0"/>
            </a:br>
            <a:br>
              <a:rPr lang="en-IN" sz="1400" dirty="0"/>
            </a:br>
            <a:r>
              <a:rPr lang="en-IN" sz="1400" dirty="0"/>
              <a:t>a. Simply Supported Beam</a:t>
            </a:r>
            <a:br>
              <a:rPr lang="en-IN" sz="1400" dirty="0"/>
            </a:br>
            <a:br>
              <a:rPr lang="en-IN" sz="1400" dirty="0"/>
            </a:br>
            <a:r>
              <a:rPr lang="en-IN" sz="1400" dirty="0"/>
              <a:t>b. Cantilever Beam</a:t>
            </a:r>
            <a:br>
              <a:rPr lang="en-IN" sz="1400" dirty="0"/>
            </a:br>
            <a:br>
              <a:rPr lang="en-IN" sz="1400" dirty="0"/>
            </a:br>
            <a:r>
              <a:rPr lang="en-IN" sz="1400" dirty="0"/>
              <a:t>c. Fixed Beam</a:t>
            </a:r>
            <a:br>
              <a:rPr lang="en-IN" sz="1400" dirty="0"/>
            </a:br>
            <a:br>
              <a:rPr lang="en-IN" sz="1400" dirty="0"/>
            </a:br>
            <a:r>
              <a:rPr lang="en-IN" sz="1400" dirty="0"/>
              <a:t>d. Continuous Beam</a:t>
            </a:r>
            <a:br>
              <a:rPr lang="en-IN" sz="1400" dirty="0"/>
            </a:br>
            <a:br>
              <a:rPr lang="en-IN" sz="1400" dirty="0"/>
            </a:br>
            <a:r>
              <a:rPr lang="en-IN" sz="1400" dirty="0"/>
              <a:t>Step 4.2: INPUT beam type selection</a:t>
            </a:r>
            <a:br>
              <a:rPr lang="en-IN" sz="1400" dirty="0"/>
            </a:br>
            <a:br>
              <a:rPr lang="en-IN" sz="1400" dirty="0"/>
            </a:br>
            <a:r>
              <a:rPr lang="en-IN" sz="1400" dirty="0"/>
              <a:t>Step 4.3: INPUT beam parameters:</a:t>
            </a:r>
            <a:br>
              <a:rPr lang="en-IN" sz="1400" dirty="0"/>
            </a:br>
            <a:br>
              <a:rPr lang="en-IN" sz="1400" dirty="0"/>
            </a:br>
            <a:r>
              <a:rPr lang="en-IN" sz="1400" dirty="0"/>
              <a:t>Length (L)</a:t>
            </a:r>
            <a:br>
              <a:rPr lang="en-IN" sz="1400" dirty="0"/>
            </a:br>
            <a:br>
              <a:rPr lang="en-IN" sz="1400" dirty="0"/>
            </a:br>
            <a:r>
              <a:rPr lang="en-IN" sz="1400" dirty="0"/>
              <a:t>Width (b)</a:t>
            </a:r>
            <a:br>
              <a:rPr lang="en-IN" sz="1400" dirty="0"/>
            </a:br>
            <a:br>
              <a:rPr lang="en-IN" sz="1400" dirty="0"/>
            </a:br>
            <a:r>
              <a:rPr lang="en-IN" sz="1400" dirty="0"/>
              <a:t>Depth (d)</a:t>
            </a:r>
            <a:br>
              <a:rPr lang="en-IN" sz="1400" dirty="0"/>
            </a:br>
            <a:br>
              <a:rPr lang="en-IN" sz="1400" dirty="0"/>
            </a:br>
            <a:br>
              <a:rPr lang="en-IN" sz="1400" dirty="0"/>
            </a:br>
            <a:endParaRPr lang="en-IN" sz="1400" dirty="0"/>
          </a:p>
        </p:txBody>
      </p:sp>
    </p:spTree>
    <p:extLst>
      <p:ext uri="{BB962C8B-B14F-4D97-AF65-F5344CB8AC3E}">
        <p14:creationId xmlns:p14="http://schemas.microsoft.com/office/powerpoint/2010/main" val="834886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09722DA-1968-C65D-2F43-2DF373AACCD3}"/>
              </a:ext>
            </a:extLst>
          </p:cNvPr>
          <p:cNvSpPr>
            <a:spLocks noGrp="1"/>
          </p:cNvSpPr>
          <p:nvPr>
            <p:ph type="body" idx="1"/>
          </p:nvPr>
        </p:nvSpPr>
        <p:spPr>
          <a:xfrm>
            <a:off x="1596852" y="1077348"/>
            <a:ext cx="10018713" cy="3124201"/>
          </a:xfrm>
        </p:spPr>
        <p:txBody>
          <a:bodyPr>
            <a:normAutofit fontScale="25000" lnSpcReduction="20000"/>
          </a:bodyPr>
          <a:lstStyle/>
          <a:p>
            <a:endParaRPr lang="en-IN" dirty="0"/>
          </a:p>
          <a:p>
            <a:endParaRPr lang="en-IN" sz="5600" dirty="0"/>
          </a:p>
          <a:p>
            <a:endParaRPr lang="en-IN" sz="5600" dirty="0"/>
          </a:p>
          <a:p>
            <a:endParaRPr lang="en-IN" sz="5600" dirty="0"/>
          </a:p>
          <a:p>
            <a:r>
              <a:rPr lang="en-IN" sz="5600" dirty="0"/>
              <a:t>8. Concrete grade (</a:t>
            </a:r>
            <a:r>
              <a:rPr lang="en-IN" sz="5600" dirty="0" err="1"/>
              <a:t>fck</a:t>
            </a:r>
            <a:r>
              <a:rPr lang="en-IN" sz="5600" dirty="0"/>
              <a:t>)</a:t>
            </a:r>
          </a:p>
          <a:p>
            <a:endParaRPr lang="en-IN" sz="5600" dirty="0"/>
          </a:p>
          <a:p>
            <a:r>
              <a:rPr lang="en-IN" sz="5600" dirty="0"/>
              <a:t>Steel grade (</a:t>
            </a:r>
            <a:r>
              <a:rPr lang="en-IN" sz="5600" dirty="0" err="1"/>
              <a:t>fy</a:t>
            </a:r>
            <a:r>
              <a:rPr lang="en-IN" sz="5600" dirty="0"/>
              <a:t>)</a:t>
            </a:r>
          </a:p>
          <a:p>
            <a:endParaRPr lang="en-IN" sz="5600" dirty="0"/>
          </a:p>
          <a:p>
            <a:r>
              <a:rPr lang="en-IN" sz="5600" dirty="0"/>
              <a:t>Loading type (UDL/Point Load)</a:t>
            </a:r>
          </a:p>
          <a:p>
            <a:endParaRPr lang="en-IN" sz="5600" dirty="0"/>
          </a:p>
          <a:p>
            <a:r>
              <a:rPr lang="en-IN" sz="5600" dirty="0"/>
              <a:t>Load magnitude</a:t>
            </a:r>
          </a:p>
          <a:p>
            <a:endParaRPr lang="en-IN" sz="5600" dirty="0"/>
          </a:p>
          <a:p>
            <a:r>
              <a:rPr lang="en-IN" sz="5600" dirty="0"/>
              <a:t>Step 4.4: CALCULATE:</a:t>
            </a:r>
          </a:p>
          <a:p>
            <a:endParaRPr lang="en-IN" sz="5600" dirty="0"/>
          </a:p>
          <a:p>
            <a:r>
              <a:rPr lang="en-IN" sz="5600" dirty="0"/>
              <a:t>Effective depth: </a:t>
            </a:r>
            <a:r>
              <a:rPr lang="en-IN" sz="5600" dirty="0" err="1"/>
              <a:t>d_eff</a:t>
            </a:r>
            <a:r>
              <a:rPr lang="en-IN" sz="5600" dirty="0"/>
              <a:t>=d-clear cover-</a:t>
            </a:r>
            <a:r>
              <a:rPr lang="en-IN" sz="5600" dirty="0" err="1"/>
              <a:t>dia</a:t>
            </a:r>
            <a:r>
              <a:rPr lang="en-IN" sz="5600" dirty="0"/>
              <a:t>/2</a:t>
            </a:r>
          </a:p>
          <a:p>
            <a:endParaRPr lang="en-IN" sz="5600" dirty="0"/>
          </a:p>
          <a:p>
            <a:r>
              <a:rPr lang="en-IN" sz="5600" dirty="0"/>
              <a:t>Maximum bending moment: </a:t>
            </a:r>
            <a:r>
              <a:rPr lang="en-IN" sz="5600" dirty="0" err="1"/>
              <a:t>M_max</a:t>
            </a:r>
            <a:endParaRPr lang="en-IN" sz="5600" dirty="0"/>
          </a:p>
          <a:p>
            <a:endParaRPr lang="en-IN" sz="5600" dirty="0"/>
          </a:p>
          <a:p>
            <a:r>
              <a:rPr lang="en-IN" sz="5600" dirty="0"/>
              <a:t>Maximum shear force: </a:t>
            </a:r>
            <a:r>
              <a:rPr lang="en-IN" sz="5600" dirty="0" err="1"/>
              <a:t>V_max</a:t>
            </a:r>
            <a:endParaRPr lang="en-IN" sz="5600" dirty="0"/>
          </a:p>
          <a:p>
            <a:endParaRPr lang="en-IN" sz="5600" dirty="0"/>
          </a:p>
          <a:p>
            <a:r>
              <a:rPr lang="en-IN" sz="5600" dirty="0"/>
              <a:t>Required area of steel: Ast = (M/(0.87xfyxjxd))</a:t>
            </a:r>
          </a:p>
          <a:p>
            <a:endParaRPr lang="en-IN" sz="5600" dirty="0"/>
          </a:p>
          <a:p>
            <a:r>
              <a:rPr lang="en-IN" sz="5600" dirty="0"/>
              <a:t>Number of bars required</a:t>
            </a:r>
          </a:p>
          <a:p>
            <a:endParaRPr lang="en-IN" sz="5600" dirty="0"/>
          </a:p>
          <a:p>
            <a:r>
              <a:rPr lang="en-IN" sz="5600" dirty="0"/>
              <a:t>Spacing of stirrups</a:t>
            </a:r>
          </a:p>
        </p:txBody>
      </p:sp>
    </p:spTree>
    <p:extLst>
      <p:ext uri="{BB962C8B-B14F-4D97-AF65-F5344CB8AC3E}">
        <p14:creationId xmlns:p14="http://schemas.microsoft.com/office/powerpoint/2010/main" val="1499403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7CF33A0-4483-A044-6149-DB8DEA76F622}"/>
              </a:ext>
            </a:extLst>
          </p:cNvPr>
          <p:cNvSpPr txBox="1"/>
          <p:nvPr/>
        </p:nvSpPr>
        <p:spPr>
          <a:xfrm>
            <a:off x="2092568" y="0"/>
            <a:ext cx="6098344" cy="7078861"/>
          </a:xfrm>
          <a:prstGeom prst="rect">
            <a:avLst/>
          </a:prstGeom>
          <a:noFill/>
        </p:spPr>
        <p:txBody>
          <a:bodyPr wrap="square">
            <a:spAutoFit/>
          </a:bodyPr>
          <a:lstStyle/>
          <a:p>
            <a:r>
              <a:rPr lang="en-IN" sz="1400" dirty="0"/>
              <a:t>Step 4.4: CALCULATE:</a:t>
            </a:r>
          </a:p>
          <a:p>
            <a:endParaRPr lang="en-IN" sz="1400" dirty="0"/>
          </a:p>
          <a:p>
            <a:r>
              <a:rPr lang="en-IN" sz="1400" dirty="0"/>
              <a:t>Effective depth: </a:t>
            </a:r>
            <a:r>
              <a:rPr lang="en-IN" sz="1400" dirty="0" err="1"/>
              <a:t>d_eff</a:t>
            </a:r>
            <a:r>
              <a:rPr lang="en-IN" sz="1400" dirty="0"/>
              <a:t>=d-clear cover-</a:t>
            </a:r>
            <a:r>
              <a:rPr lang="en-IN" sz="1400" dirty="0" err="1"/>
              <a:t>dia</a:t>
            </a:r>
            <a:r>
              <a:rPr lang="en-IN" sz="1400" dirty="0"/>
              <a:t>/2</a:t>
            </a:r>
          </a:p>
          <a:p>
            <a:endParaRPr lang="en-IN" sz="1400" dirty="0"/>
          </a:p>
          <a:p>
            <a:r>
              <a:rPr lang="en-IN" sz="1400" dirty="0"/>
              <a:t>Maximum bending moment: </a:t>
            </a:r>
            <a:r>
              <a:rPr lang="en-IN" sz="1400" dirty="0" err="1"/>
              <a:t>M_max</a:t>
            </a:r>
            <a:endParaRPr lang="en-IN" sz="1400" dirty="0"/>
          </a:p>
          <a:p>
            <a:endParaRPr lang="en-IN" sz="1400" dirty="0"/>
          </a:p>
          <a:p>
            <a:r>
              <a:rPr lang="en-IN" sz="1400" dirty="0"/>
              <a:t>Maximum shear force: </a:t>
            </a:r>
            <a:r>
              <a:rPr lang="en-IN" sz="1400" dirty="0" err="1"/>
              <a:t>V_max</a:t>
            </a:r>
            <a:endParaRPr lang="en-IN" sz="1400" dirty="0"/>
          </a:p>
          <a:p>
            <a:endParaRPr lang="en-IN" sz="1400" dirty="0"/>
          </a:p>
          <a:p>
            <a:r>
              <a:rPr lang="en-IN" sz="1400" dirty="0"/>
              <a:t>Required area of steel: Ast = (M/(0.87xfyxjxd))</a:t>
            </a:r>
          </a:p>
          <a:p>
            <a:endParaRPr lang="en-IN" sz="1400" dirty="0"/>
          </a:p>
          <a:p>
            <a:r>
              <a:rPr lang="en-IN" sz="1400" dirty="0"/>
              <a:t>Number of bars required</a:t>
            </a:r>
          </a:p>
          <a:p>
            <a:endParaRPr lang="en-IN" sz="1400" dirty="0"/>
          </a:p>
          <a:p>
            <a:r>
              <a:rPr lang="en-IN" sz="1400" dirty="0"/>
              <a:t>Spacing of stirrups</a:t>
            </a:r>
          </a:p>
          <a:p>
            <a:endParaRPr lang="en-IN" sz="1400" dirty="0"/>
          </a:p>
          <a:p>
            <a:r>
              <a:rPr lang="en-IN" sz="1400" dirty="0"/>
              <a:t>Check for deflection</a:t>
            </a:r>
          </a:p>
          <a:p>
            <a:endParaRPr lang="en-IN" sz="1400" dirty="0"/>
          </a:p>
          <a:p>
            <a:r>
              <a:rPr lang="en-IN" sz="1400" dirty="0"/>
              <a:t>Check for shear</a:t>
            </a:r>
          </a:p>
          <a:p>
            <a:endParaRPr lang="en-IN" sz="1400" dirty="0"/>
          </a:p>
          <a:p>
            <a:r>
              <a:rPr lang="en-IN" sz="1400" dirty="0"/>
              <a:t>Step 4.5: Display design results with diagram</a:t>
            </a:r>
          </a:p>
          <a:p>
            <a:endParaRPr lang="en-IN" sz="1400" dirty="0"/>
          </a:p>
          <a:p>
            <a:r>
              <a:rPr lang="en-IN" sz="1400" dirty="0"/>
              <a:t>Step 4.6: GOTO Step 2</a:t>
            </a:r>
          </a:p>
          <a:p>
            <a:endParaRPr lang="en-IN" sz="1400" dirty="0"/>
          </a:p>
          <a:p>
            <a:r>
              <a:rPr lang="en-IN" sz="1400" dirty="0"/>
              <a:t>Module 2: Column Design Calculator</a:t>
            </a:r>
          </a:p>
          <a:p>
            <a:endParaRPr lang="en-IN" sz="1400" dirty="0"/>
          </a:p>
          <a:p>
            <a:r>
              <a:rPr lang="en-IN" sz="1400" dirty="0"/>
              <a:t>Step 5: ELSE IF choice = 2 (Column Design Calculator)</a:t>
            </a:r>
          </a:p>
          <a:p>
            <a:endParaRPr lang="en-IN" sz="1400" dirty="0"/>
          </a:p>
          <a:p>
            <a:r>
              <a:rPr lang="en-IN" dirty="0"/>
              <a:t>Step 5.1: INPUT column type:</a:t>
            </a:r>
          </a:p>
          <a:p>
            <a:endParaRPr lang="en-IN" dirty="0"/>
          </a:p>
          <a:p>
            <a:r>
              <a:rPr lang="en-IN" dirty="0"/>
              <a:t>a. Rectangular Column</a:t>
            </a:r>
          </a:p>
          <a:p>
            <a:endParaRPr lang="en-IN" dirty="0"/>
          </a:p>
          <a:p>
            <a:endParaRPr lang="en-IN" dirty="0"/>
          </a:p>
        </p:txBody>
      </p:sp>
    </p:spTree>
    <p:extLst>
      <p:ext uri="{BB962C8B-B14F-4D97-AF65-F5344CB8AC3E}">
        <p14:creationId xmlns:p14="http://schemas.microsoft.com/office/powerpoint/2010/main" val="107552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B356-E400-5D97-AFC3-C3C2A89E0D3C}"/>
              </a:ext>
            </a:extLst>
          </p:cNvPr>
          <p:cNvSpPr>
            <a:spLocks noGrp="1"/>
          </p:cNvSpPr>
          <p:nvPr>
            <p:ph type="title"/>
          </p:nvPr>
        </p:nvSpPr>
        <p:spPr>
          <a:xfrm>
            <a:off x="-2609386" y="-1752599"/>
            <a:ext cx="10018713" cy="1752599"/>
          </a:xfrm>
        </p:spPr>
        <p:txBody>
          <a:bodyPr>
            <a:normAutofit fontScale="90000"/>
          </a:bodyPr>
          <a:lstStyle/>
          <a:p>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br>
              <a:rPr lang="en-IN" sz="1400" dirty="0"/>
            </a:br>
            <a:r>
              <a:rPr lang="en-IN" sz="1400" dirty="0"/>
              <a:t>b. Circular Column</a:t>
            </a:r>
            <a:br>
              <a:rPr lang="en-IN" sz="1400" dirty="0"/>
            </a:br>
            <a:br>
              <a:rPr lang="en-IN" sz="1400" dirty="0"/>
            </a:br>
            <a:r>
              <a:rPr lang="en-IN" sz="1400" dirty="0"/>
              <a:t>c. L-shaped Column</a:t>
            </a:r>
            <a:br>
              <a:rPr lang="en-IN" sz="1400" dirty="0"/>
            </a:br>
            <a:br>
              <a:rPr lang="en-IN" sz="1400" dirty="0"/>
            </a:br>
            <a:r>
              <a:rPr lang="en-IN" sz="1400" dirty="0"/>
              <a:t>d. T-shaped Column</a:t>
            </a:r>
            <a:br>
              <a:rPr lang="en-IN" sz="1400" dirty="0"/>
            </a:br>
            <a:br>
              <a:rPr lang="en-IN" sz="1400" dirty="0"/>
            </a:br>
            <a:r>
              <a:rPr lang="en-IN" sz="1400" dirty="0"/>
              <a:t>Step 5.2: INPUT column parameters:</a:t>
            </a:r>
            <a:br>
              <a:rPr lang="en-IN" sz="1400" dirty="0"/>
            </a:br>
            <a:br>
              <a:rPr lang="en-IN" sz="1400" dirty="0"/>
            </a:br>
            <a:r>
              <a:rPr lang="en-IN" sz="1400" dirty="0"/>
              <a:t>Height (H)</a:t>
            </a:r>
            <a:br>
              <a:rPr lang="en-IN" sz="1400" dirty="0"/>
            </a:br>
            <a:br>
              <a:rPr lang="en-IN" sz="1400" dirty="0"/>
            </a:br>
            <a:r>
              <a:rPr lang="en-IN" sz="1400" dirty="0"/>
              <a:t>Cross-sectional dimensions</a:t>
            </a:r>
            <a:br>
              <a:rPr lang="en-IN" sz="1400" dirty="0"/>
            </a:br>
            <a:br>
              <a:rPr lang="en-IN" sz="1400" dirty="0"/>
            </a:br>
            <a:r>
              <a:rPr lang="en-IN" sz="1400" dirty="0"/>
              <a:t>Axial load (P)</a:t>
            </a:r>
            <a:br>
              <a:rPr lang="en-IN" sz="1400" dirty="0"/>
            </a:br>
            <a:br>
              <a:rPr lang="en-IN" sz="1400" dirty="0"/>
            </a:br>
            <a:r>
              <a:rPr lang="en-IN" sz="1400" dirty="0"/>
              <a:t>Moment (M) if any</a:t>
            </a:r>
            <a:br>
              <a:rPr lang="en-IN" sz="1400" dirty="0"/>
            </a:br>
            <a:br>
              <a:rPr lang="en-IN" sz="1400" dirty="0"/>
            </a:br>
            <a:r>
              <a:rPr lang="en-IN" sz="1400" dirty="0"/>
              <a:t>Concrete grade (</a:t>
            </a:r>
            <a:r>
              <a:rPr lang="en-IN" sz="1400" dirty="0" err="1"/>
              <a:t>fck</a:t>
            </a:r>
            <a:r>
              <a:rPr lang="en-IN" sz="1400" dirty="0"/>
              <a:t>)</a:t>
            </a:r>
            <a:br>
              <a:rPr lang="en-IN" sz="1400" dirty="0"/>
            </a:br>
            <a:br>
              <a:rPr lang="en-IN" sz="1400" dirty="0"/>
            </a:br>
            <a:r>
              <a:rPr lang="en-IN" sz="1400" dirty="0"/>
              <a:t>Steel grade (</a:t>
            </a:r>
            <a:r>
              <a:rPr lang="en-IN" sz="1400" dirty="0" err="1"/>
              <a:t>fy</a:t>
            </a:r>
            <a:r>
              <a:rPr lang="en-IN" sz="1400" dirty="0"/>
              <a:t>)</a:t>
            </a:r>
            <a:br>
              <a:rPr lang="en-IN" sz="1400" dirty="0"/>
            </a:br>
            <a:br>
              <a:rPr lang="en-IN" sz="1400" dirty="0"/>
            </a:br>
            <a:r>
              <a:rPr lang="en-IN" sz="1400" dirty="0"/>
              <a:t>Effective length factor</a:t>
            </a:r>
            <a:br>
              <a:rPr lang="en-IN" sz="1400" dirty="0"/>
            </a:br>
            <a:br>
              <a:rPr lang="en-IN" sz="1400" dirty="0"/>
            </a:br>
            <a:r>
              <a:rPr lang="en-IN" sz="1400" dirty="0"/>
              <a:t>Step 5.3: CALCULATE:</a:t>
            </a:r>
            <a:br>
              <a:rPr lang="en-IN" sz="1400" dirty="0"/>
            </a:br>
            <a:br>
              <a:rPr lang="en-IN" sz="1400" dirty="0"/>
            </a:br>
            <a:r>
              <a:rPr lang="en-IN" sz="1400" dirty="0"/>
              <a:t>Slenderness ratio: A = (1_eff/r)</a:t>
            </a:r>
            <a:br>
              <a:rPr lang="en-IN" sz="1400" dirty="0"/>
            </a:br>
            <a:br>
              <a:rPr lang="en-IN" sz="1400" dirty="0"/>
            </a:br>
            <a:r>
              <a:rPr lang="en-IN" sz="1400" dirty="0"/>
              <a:t>Check if short or slender column</a:t>
            </a:r>
            <a:br>
              <a:rPr lang="en-IN" sz="1400" dirty="0"/>
            </a:br>
            <a:br>
              <a:rPr lang="en-IN" sz="1400" dirty="0"/>
            </a:br>
            <a:r>
              <a:rPr lang="en-IN" sz="1400" dirty="0"/>
              <a:t>Minimum eccentricity</a:t>
            </a:r>
            <a:br>
              <a:rPr lang="en-IN" sz="1400" dirty="0"/>
            </a:br>
            <a:br>
              <a:rPr lang="en-IN" sz="1400" dirty="0"/>
            </a:br>
            <a:endParaRPr lang="en-IN" sz="1400" dirty="0"/>
          </a:p>
        </p:txBody>
      </p:sp>
    </p:spTree>
    <p:extLst>
      <p:ext uri="{BB962C8B-B14F-4D97-AF65-F5344CB8AC3E}">
        <p14:creationId xmlns:p14="http://schemas.microsoft.com/office/powerpoint/2010/main" val="3888772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0FC884D-6E23-3E4B-762E-E8360F110F50}"/>
              </a:ext>
            </a:extLst>
          </p:cNvPr>
          <p:cNvSpPr>
            <a:spLocks noGrp="1"/>
          </p:cNvSpPr>
          <p:nvPr>
            <p:ph type="body" idx="1"/>
          </p:nvPr>
        </p:nvSpPr>
        <p:spPr>
          <a:xfrm>
            <a:off x="1484309" y="2048020"/>
            <a:ext cx="10018713" cy="3124201"/>
          </a:xfrm>
        </p:spPr>
        <p:txBody>
          <a:bodyPr>
            <a:noAutofit/>
          </a:bodyPr>
          <a:lstStyle/>
          <a:p>
            <a:r>
              <a:rPr lang="en-IN" sz="1400" dirty="0"/>
              <a:t>Required steel area: </a:t>
            </a:r>
            <a:r>
              <a:rPr lang="en-IN" sz="1400" dirty="0" err="1"/>
              <a:t>Asc</a:t>
            </a:r>
            <a:br>
              <a:rPr lang="en-IN" sz="1400" dirty="0"/>
            </a:br>
            <a:br>
              <a:rPr lang="en-IN" sz="1400" dirty="0"/>
            </a:br>
            <a:r>
              <a:rPr lang="en-IN" sz="1400" dirty="0"/>
              <a:t>Lateral ties spacing</a:t>
            </a:r>
            <a:br>
              <a:rPr lang="en-IN" sz="1400" dirty="0"/>
            </a:br>
            <a:br>
              <a:rPr lang="en-IN" sz="1400" dirty="0"/>
            </a:br>
            <a:r>
              <a:rPr lang="en-IN" sz="1400" dirty="0"/>
              <a:t>Load carrying capacity</a:t>
            </a:r>
            <a:br>
              <a:rPr lang="en-IN" sz="1400" dirty="0"/>
            </a:br>
            <a:br>
              <a:rPr lang="en-IN" sz="1400" dirty="0"/>
            </a:br>
            <a:r>
              <a:rPr lang="en-IN" sz="1400" dirty="0"/>
              <a:t>Step 5.4: Display design details with reinforcement layout</a:t>
            </a:r>
            <a:br>
              <a:rPr lang="en-IN" sz="1400" dirty="0"/>
            </a:br>
            <a:br>
              <a:rPr lang="en-IN" sz="1400" dirty="0"/>
            </a:br>
            <a:r>
              <a:rPr lang="en-IN" sz="1400" dirty="0"/>
              <a:t>Step 5.5: GOTO Step 2</a:t>
            </a:r>
            <a:br>
              <a:rPr lang="en-IN" sz="1400" dirty="0"/>
            </a:br>
            <a:br>
              <a:rPr lang="en-IN" sz="1400" dirty="0"/>
            </a:br>
            <a:r>
              <a:rPr lang="en-IN" sz="1400" dirty="0"/>
              <a:t>Module 3: Slab Design Calculator</a:t>
            </a:r>
            <a:br>
              <a:rPr lang="en-IN" sz="1400" dirty="0"/>
            </a:br>
            <a:br>
              <a:rPr lang="en-IN" sz="1400" dirty="0"/>
            </a:br>
            <a:r>
              <a:rPr lang="en-IN" sz="1400" dirty="0"/>
              <a:t>Step 6: ELSE IF choice = 3 (Slab Design Calculator)</a:t>
            </a:r>
            <a:br>
              <a:rPr lang="en-IN" sz="1400" dirty="0"/>
            </a:br>
            <a:br>
              <a:rPr lang="en-IN" sz="1400" dirty="0"/>
            </a:br>
            <a:r>
              <a:rPr lang="en-IN" sz="1400" dirty="0"/>
              <a:t>Step 6.1: INPUT slab type:</a:t>
            </a:r>
            <a:br>
              <a:rPr lang="en-IN" sz="1400" dirty="0"/>
            </a:br>
            <a:br>
              <a:rPr lang="en-IN" sz="1400" dirty="0"/>
            </a:br>
            <a:r>
              <a:rPr lang="en-IN" sz="1400" dirty="0"/>
              <a:t>a. One-way Slab</a:t>
            </a:r>
            <a:br>
              <a:rPr lang="en-IN" sz="1400" dirty="0"/>
            </a:br>
            <a:br>
              <a:rPr lang="en-IN" sz="1400" dirty="0"/>
            </a:br>
            <a:r>
              <a:rPr lang="en-IN" sz="1400" dirty="0"/>
              <a:t>b. Two-way Slab</a:t>
            </a:r>
            <a:br>
              <a:rPr lang="en-IN" sz="1400" dirty="0"/>
            </a:br>
            <a:br>
              <a:rPr lang="en-IN" sz="1400" dirty="0"/>
            </a:br>
            <a:r>
              <a:rPr lang="en-IN" sz="1400" dirty="0"/>
              <a:t>c. Flat Slab</a:t>
            </a:r>
            <a:br>
              <a:rPr lang="en-IN" sz="1400" dirty="0"/>
            </a:br>
            <a:br>
              <a:rPr lang="en-IN" sz="1400" dirty="0"/>
            </a:br>
            <a:r>
              <a:rPr lang="en-IN" sz="1400" dirty="0"/>
              <a:t>Step 6.2: INPUT slab parameters:</a:t>
            </a:r>
            <a:br>
              <a:rPr lang="en-IN" sz="1400" dirty="0"/>
            </a:br>
            <a:br>
              <a:rPr lang="en-IN" sz="1400" dirty="0"/>
            </a:br>
            <a:r>
              <a:rPr lang="en-IN" sz="1400" dirty="0"/>
              <a:t>Length (Lx)</a:t>
            </a:r>
            <a:br>
              <a:rPr lang="en-IN" sz="1400" dirty="0"/>
            </a:br>
            <a:br>
              <a:rPr lang="en-IN" sz="1400" dirty="0"/>
            </a:br>
            <a:r>
              <a:rPr lang="en-IN" sz="1400" dirty="0"/>
              <a:t>Width (Ly)</a:t>
            </a:r>
            <a:br>
              <a:rPr lang="en-IN" sz="1400" dirty="0"/>
            </a:br>
            <a:r>
              <a:rPr lang="en-IN" sz="1400" dirty="0"/>
              <a:t> </a:t>
            </a:r>
            <a:br>
              <a:rPr lang="en-IN" sz="1400" dirty="0"/>
            </a:br>
            <a:r>
              <a:rPr lang="en-IN" sz="1400" dirty="0"/>
              <a:t>    Thickness (D)</a:t>
            </a:r>
            <a:br>
              <a:rPr lang="en-IN" sz="1400" dirty="0"/>
            </a:br>
            <a:br>
              <a:rPr lang="en-IN" sz="1400" dirty="0"/>
            </a:br>
            <a:r>
              <a:rPr lang="en-IN" sz="1400" dirty="0"/>
              <a:t>              Support conditions</a:t>
            </a:r>
            <a:br>
              <a:rPr lang="en-IN" sz="1400" dirty="0"/>
            </a:br>
            <a:br>
              <a:rPr lang="en-IN" sz="1400" dirty="0"/>
            </a:br>
            <a:endParaRPr lang="en-IN" sz="1400" dirty="0"/>
          </a:p>
        </p:txBody>
      </p:sp>
    </p:spTree>
    <p:extLst>
      <p:ext uri="{BB962C8B-B14F-4D97-AF65-F5344CB8AC3E}">
        <p14:creationId xmlns:p14="http://schemas.microsoft.com/office/powerpoint/2010/main" val="2637998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8FACDA9-4213-462A-8E67-0C1F6A29AEBF}"/>
              </a:ext>
            </a:extLst>
          </p:cNvPr>
          <p:cNvSpPr>
            <a:spLocks noGrp="1"/>
          </p:cNvSpPr>
          <p:nvPr>
            <p:ph type="body" idx="1"/>
          </p:nvPr>
        </p:nvSpPr>
        <p:spPr>
          <a:xfrm>
            <a:off x="1976680" y="2641209"/>
            <a:ext cx="10018713" cy="1888588"/>
          </a:xfrm>
        </p:spPr>
        <p:txBody>
          <a:bodyPr>
            <a:normAutofit fontScale="25000" lnSpcReduction="20000"/>
          </a:bodyPr>
          <a:lstStyle/>
          <a:p>
            <a:r>
              <a:rPr lang="en-US" sz="5600" dirty="0"/>
              <a:t>Step 6.2: INPUT slab parameters:</a:t>
            </a:r>
          </a:p>
          <a:p>
            <a:endParaRPr lang="en-US" sz="5600" dirty="0"/>
          </a:p>
          <a:p>
            <a:r>
              <a:rPr lang="en-US" sz="5600" dirty="0"/>
              <a:t>Length (LX)</a:t>
            </a:r>
          </a:p>
          <a:p>
            <a:endParaRPr lang="en-US" sz="5600" dirty="0"/>
          </a:p>
          <a:p>
            <a:r>
              <a:rPr lang="en-US" sz="5600" dirty="0"/>
              <a:t>Width (Ly)</a:t>
            </a:r>
          </a:p>
          <a:p>
            <a:endParaRPr lang="en-US" sz="5600" dirty="0"/>
          </a:p>
          <a:p>
            <a:r>
              <a:rPr lang="en-US" sz="5600" dirty="0"/>
              <a:t>Thickness (D)</a:t>
            </a:r>
          </a:p>
          <a:p>
            <a:endParaRPr lang="en-US" sz="5600" dirty="0"/>
          </a:p>
          <a:p>
            <a:r>
              <a:rPr lang="en-US" sz="5600" dirty="0"/>
              <a:t>Support conditions</a:t>
            </a:r>
          </a:p>
          <a:p>
            <a:endParaRPr lang="en-US" sz="5600" dirty="0"/>
          </a:p>
          <a:p>
            <a:r>
              <a:rPr lang="en-US" sz="5600" dirty="0"/>
              <a:t>Live load (LL)</a:t>
            </a:r>
          </a:p>
          <a:p>
            <a:endParaRPr lang="en-US" sz="5600" dirty="0"/>
          </a:p>
          <a:p>
            <a:r>
              <a:rPr lang="en-US" sz="5600" dirty="0"/>
              <a:t>Dead load (DL)</a:t>
            </a:r>
          </a:p>
          <a:p>
            <a:endParaRPr lang="en-US" sz="5600" dirty="0"/>
          </a:p>
          <a:p>
            <a:r>
              <a:rPr lang="en-US" sz="5600" dirty="0"/>
              <a:t>Concrete grade (</a:t>
            </a:r>
            <a:r>
              <a:rPr lang="en-US" sz="5600" dirty="0" err="1"/>
              <a:t>fck</a:t>
            </a:r>
            <a:r>
              <a:rPr lang="en-US" sz="5600" dirty="0"/>
              <a:t>)</a:t>
            </a:r>
          </a:p>
          <a:p>
            <a:endParaRPr lang="en-US" sz="5600" dirty="0"/>
          </a:p>
          <a:p>
            <a:r>
              <a:rPr lang="en-US" sz="5600" dirty="0"/>
              <a:t>Steel grade (</a:t>
            </a:r>
            <a:r>
              <a:rPr lang="en-US" sz="5600" dirty="0" err="1"/>
              <a:t>fy</a:t>
            </a:r>
            <a:r>
              <a:rPr lang="en-US" sz="5600" dirty="0"/>
              <a:t>)</a:t>
            </a:r>
          </a:p>
          <a:p>
            <a:endParaRPr lang="en-US" sz="5600" dirty="0"/>
          </a:p>
          <a:p>
            <a:r>
              <a:rPr lang="en-US" sz="5600" dirty="0"/>
              <a:t>Step 6.3: CALCULATE:</a:t>
            </a:r>
          </a:p>
          <a:p>
            <a:endParaRPr lang="en-US" sz="5600" dirty="0"/>
          </a:p>
          <a:p>
            <a:r>
              <a:rPr lang="en-US" sz="5600" dirty="0"/>
              <a:t>Effective span</a:t>
            </a:r>
          </a:p>
          <a:p>
            <a:endParaRPr lang="en-US" sz="5600" dirty="0"/>
          </a:p>
          <a:p>
            <a:r>
              <a:rPr lang="en-US" sz="5600" dirty="0"/>
              <a:t>Total load: w = DL+LL</a:t>
            </a:r>
          </a:p>
          <a:p>
            <a:endParaRPr lang="en-US" sz="5600" dirty="0"/>
          </a:p>
          <a:p>
            <a:endParaRPr lang="en-IN" sz="900" dirty="0"/>
          </a:p>
        </p:txBody>
      </p:sp>
    </p:spTree>
    <p:extLst>
      <p:ext uri="{BB962C8B-B14F-4D97-AF65-F5344CB8AC3E}">
        <p14:creationId xmlns:p14="http://schemas.microsoft.com/office/powerpoint/2010/main" val="1450401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F8379C4-1A45-8986-1AEC-244F330B8462}"/>
              </a:ext>
            </a:extLst>
          </p:cNvPr>
          <p:cNvSpPr>
            <a:spLocks noGrp="1"/>
          </p:cNvSpPr>
          <p:nvPr>
            <p:ph type="body" idx="1"/>
          </p:nvPr>
        </p:nvSpPr>
        <p:spPr>
          <a:xfrm>
            <a:off x="1667190" y="1668193"/>
            <a:ext cx="10018713" cy="3124201"/>
          </a:xfrm>
        </p:spPr>
        <p:txBody>
          <a:bodyPr>
            <a:normAutofit fontScale="25000" lnSpcReduction="20000"/>
          </a:bodyPr>
          <a:lstStyle/>
          <a:p>
            <a:endParaRPr lang="en-US" sz="900" dirty="0"/>
          </a:p>
          <a:p>
            <a:r>
              <a:rPr lang="en-US" sz="5600" dirty="0"/>
              <a:t>IF one-way slab: </a:t>
            </a:r>
            <a:r>
              <a:rPr lang="en-US" sz="5600" dirty="0" err="1"/>
              <a:t>ly</a:t>
            </a:r>
            <a:r>
              <a:rPr lang="en-US" sz="5600" dirty="0"/>
              <a:t>/lx &gt; 2</a:t>
            </a:r>
          </a:p>
          <a:p>
            <a:endParaRPr lang="en-US" sz="5600" dirty="0"/>
          </a:p>
          <a:p>
            <a:r>
              <a:rPr lang="en-US" sz="5600" dirty="0"/>
              <a:t>IF two-way slab: </a:t>
            </a:r>
            <a:r>
              <a:rPr lang="en-US" sz="5600" dirty="0" err="1"/>
              <a:t>ly</a:t>
            </a:r>
            <a:r>
              <a:rPr lang="en-US" sz="5600" dirty="0"/>
              <a:t>/lx &lt; 2</a:t>
            </a:r>
          </a:p>
          <a:p>
            <a:endParaRPr lang="en-US" sz="5600" dirty="0"/>
          </a:p>
          <a:p>
            <a:r>
              <a:rPr lang="en-US" sz="5600" dirty="0"/>
              <a:t>Bending moments (Mx, My)</a:t>
            </a:r>
          </a:p>
          <a:p>
            <a:endParaRPr lang="en-US" sz="5600" dirty="0"/>
          </a:p>
          <a:p>
            <a:r>
              <a:rPr lang="en-US" sz="5600" dirty="0"/>
              <a:t>Required steel area in both directions</a:t>
            </a:r>
          </a:p>
          <a:p>
            <a:endParaRPr lang="en-US" sz="5600" dirty="0"/>
          </a:p>
          <a:p>
            <a:r>
              <a:rPr lang="en-US" sz="5600" dirty="0"/>
              <a:t>Spacing of reinforcement</a:t>
            </a:r>
          </a:p>
          <a:p>
            <a:endParaRPr lang="en-US" sz="5600" dirty="0"/>
          </a:p>
          <a:p>
            <a:r>
              <a:rPr lang="en-US" sz="5600" dirty="0"/>
              <a:t>Check for deflection</a:t>
            </a:r>
          </a:p>
          <a:p>
            <a:endParaRPr lang="en-US" sz="5600" dirty="0"/>
          </a:p>
          <a:p>
            <a:r>
              <a:rPr lang="en-US" sz="5600" dirty="0"/>
              <a:t>Check for shear</a:t>
            </a:r>
          </a:p>
          <a:p>
            <a:endParaRPr lang="en-US" sz="5600" dirty="0"/>
          </a:p>
          <a:p>
            <a:r>
              <a:rPr lang="en-US" sz="5600" dirty="0"/>
              <a:t>Step 6.4: Display design with reinforcement details</a:t>
            </a:r>
          </a:p>
          <a:p>
            <a:endParaRPr lang="en-US" sz="5600" dirty="0"/>
          </a:p>
          <a:p>
            <a:r>
              <a:rPr lang="en-US" sz="5600" dirty="0"/>
              <a:t>Step 6.5: GOTO</a:t>
            </a:r>
          </a:p>
          <a:p>
            <a:endParaRPr lang="en-US" sz="5600" dirty="0"/>
          </a:p>
          <a:p>
            <a:r>
              <a:rPr lang="en-US" sz="5600" dirty="0"/>
              <a:t>Step 2</a:t>
            </a:r>
          </a:p>
          <a:p>
            <a:endParaRPr lang="en-US" sz="900" dirty="0"/>
          </a:p>
        </p:txBody>
      </p:sp>
    </p:spTree>
    <p:extLst>
      <p:ext uri="{BB962C8B-B14F-4D97-AF65-F5344CB8AC3E}">
        <p14:creationId xmlns:p14="http://schemas.microsoft.com/office/powerpoint/2010/main" val="2150399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7839495-3F25-1780-C13E-3EAAAEF71BF6}"/>
              </a:ext>
            </a:extLst>
          </p:cNvPr>
          <p:cNvSpPr>
            <a:spLocks noGrp="1"/>
          </p:cNvSpPr>
          <p:nvPr>
            <p:ph type="body" idx="1"/>
          </p:nvPr>
        </p:nvSpPr>
        <p:spPr>
          <a:xfrm>
            <a:off x="1540580" y="1611922"/>
            <a:ext cx="10018713" cy="3124201"/>
          </a:xfrm>
        </p:spPr>
        <p:txBody>
          <a:bodyPr>
            <a:normAutofit fontScale="25000" lnSpcReduction="20000"/>
          </a:bodyPr>
          <a:lstStyle/>
          <a:p>
            <a:r>
              <a:rPr lang="en-US" sz="4300" dirty="0"/>
              <a:t>Module 4: Footing Design Calculator</a:t>
            </a:r>
          </a:p>
          <a:p>
            <a:endParaRPr lang="en-US" sz="4300" dirty="0"/>
          </a:p>
          <a:p>
            <a:r>
              <a:rPr lang="en-US" sz="4300" dirty="0"/>
              <a:t>Step 7: ELSE IF choice = 4 (Footing Design Calculator)</a:t>
            </a:r>
          </a:p>
          <a:p>
            <a:endParaRPr lang="en-US" sz="4300" dirty="0"/>
          </a:p>
          <a:p>
            <a:r>
              <a:rPr lang="en-US" sz="4300" dirty="0"/>
              <a:t>Step 7.1: INPUT footing type:</a:t>
            </a:r>
          </a:p>
          <a:p>
            <a:endParaRPr lang="en-US" sz="4300" dirty="0"/>
          </a:p>
          <a:p>
            <a:r>
              <a:rPr lang="en-US" sz="4300" dirty="0"/>
              <a:t>a. Isolated Footing</a:t>
            </a:r>
          </a:p>
          <a:p>
            <a:endParaRPr lang="en-US" sz="4300" dirty="0"/>
          </a:p>
          <a:p>
            <a:r>
              <a:rPr lang="en-US" sz="4300" dirty="0"/>
              <a:t>b. Combined Footing</a:t>
            </a:r>
          </a:p>
          <a:p>
            <a:endParaRPr lang="en-US" sz="4300" dirty="0"/>
          </a:p>
          <a:p>
            <a:r>
              <a:rPr lang="en-US" sz="4300" dirty="0"/>
              <a:t>c. Strap Footing</a:t>
            </a:r>
          </a:p>
          <a:p>
            <a:endParaRPr lang="en-US" sz="4300" dirty="0"/>
          </a:p>
          <a:p>
            <a:r>
              <a:rPr lang="en-US" sz="4300" dirty="0"/>
              <a:t>d. Mat Foundation</a:t>
            </a:r>
          </a:p>
          <a:p>
            <a:endParaRPr lang="en-US" sz="4300" dirty="0"/>
          </a:p>
          <a:p>
            <a:r>
              <a:rPr lang="en-US" sz="4300" dirty="0"/>
              <a:t>Step 7.2: INPUT parameters:</a:t>
            </a:r>
          </a:p>
          <a:p>
            <a:endParaRPr lang="en-US" sz="4300" dirty="0"/>
          </a:p>
          <a:p>
            <a:r>
              <a:rPr lang="en-US" sz="4300" dirty="0"/>
              <a:t>Column load (P)</a:t>
            </a:r>
          </a:p>
          <a:p>
            <a:endParaRPr lang="en-US" sz="4300" dirty="0"/>
          </a:p>
          <a:p>
            <a:r>
              <a:rPr lang="en-US" sz="4300" dirty="0"/>
              <a:t>Safe bearing capacity of soil (SBC)</a:t>
            </a:r>
          </a:p>
          <a:p>
            <a:endParaRPr lang="en-US" sz="4300" dirty="0"/>
          </a:p>
          <a:p>
            <a:r>
              <a:rPr lang="en-US" sz="4300" dirty="0"/>
              <a:t>Column dimensions</a:t>
            </a:r>
          </a:p>
          <a:p>
            <a:endParaRPr lang="en-US" sz="4300" dirty="0"/>
          </a:p>
          <a:p>
            <a:r>
              <a:rPr lang="en-US" sz="4300" dirty="0"/>
              <a:t>Concrete grade (</a:t>
            </a:r>
            <a:r>
              <a:rPr lang="en-US" sz="4300" dirty="0" err="1"/>
              <a:t>fck</a:t>
            </a:r>
            <a:r>
              <a:rPr lang="en-US" sz="4300" dirty="0"/>
              <a:t>)</a:t>
            </a:r>
          </a:p>
          <a:p>
            <a:endParaRPr lang="en-US" sz="900" dirty="0"/>
          </a:p>
          <a:p>
            <a:endParaRPr lang="en-IN" sz="900" dirty="0"/>
          </a:p>
        </p:txBody>
      </p:sp>
    </p:spTree>
    <p:extLst>
      <p:ext uri="{BB962C8B-B14F-4D97-AF65-F5344CB8AC3E}">
        <p14:creationId xmlns:p14="http://schemas.microsoft.com/office/powerpoint/2010/main" val="907090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5CE873A-15F6-FB6E-B574-B9D5E32B97E7}"/>
              </a:ext>
            </a:extLst>
          </p:cNvPr>
          <p:cNvSpPr>
            <a:spLocks noGrp="1"/>
          </p:cNvSpPr>
          <p:nvPr>
            <p:ph type="body" idx="1"/>
          </p:nvPr>
        </p:nvSpPr>
        <p:spPr>
          <a:xfrm>
            <a:off x="1610919" y="1562099"/>
            <a:ext cx="10018713" cy="3124201"/>
          </a:xfrm>
        </p:spPr>
        <p:txBody>
          <a:bodyPr>
            <a:normAutofit fontScale="25000" lnSpcReduction="20000"/>
          </a:bodyPr>
          <a:lstStyle/>
          <a:p>
            <a:endParaRPr lang="en-US" sz="900" dirty="0"/>
          </a:p>
          <a:p>
            <a:r>
              <a:rPr lang="en-US" sz="4300" dirty="0"/>
              <a:t>Steel grade (</a:t>
            </a:r>
            <a:r>
              <a:rPr lang="en-US" sz="4300" dirty="0" err="1"/>
              <a:t>fy</a:t>
            </a:r>
            <a:r>
              <a:rPr lang="en-US" sz="4300" dirty="0"/>
              <a:t>)</a:t>
            </a:r>
          </a:p>
          <a:p>
            <a:endParaRPr lang="en-US" sz="4300" dirty="0"/>
          </a:p>
          <a:p>
            <a:r>
              <a:rPr lang="en-US" sz="4300" dirty="0"/>
              <a:t>Step 7.3: CALCULATE:</a:t>
            </a:r>
          </a:p>
          <a:p>
            <a:endParaRPr lang="en-US" sz="4300" dirty="0"/>
          </a:p>
          <a:p>
            <a:r>
              <a:rPr lang="en-US" sz="4300" dirty="0"/>
              <a:t>Required footing area: A =P/SBC</a:t>
            </a:r>
          </a:p>
          <a:p>
            <a:endParaRPr lang="en-US" sz="4300" dirty="0"/>
          </a:p>
          <a:p>
            <a:r>
              <a:rPr lang="en-US" sz="4300" dirty="0"/>
              <a:t>Footing dimensions (</a:t>
            </a:r>
            <a:r>
              <a:rPr lang="en-US" sz="4300" dirty="0" err="1"/>
              <a:t>LxB</a:t>
            </a:r>
            <a:r>
              <a:rPr lang="en-US" sz="4300" dirty="0"/>
              <a:t>)</a:t>
            </a:r>
          </a:p>
          <a:p>
            <a:endParaRPr lang="en-US" sz="4300" dirty="0"/>
          </a:p>
          <a:p>
            <a:r>
              <a:rPr lang="en-US" sz="4300" dirty="0"/>
              <a:t>Footing depth based on punching shear</a:t>
            </a:r>
          </a:p>
          <a:p>
            <a:endParaRPr lang="en-US" sz="4300" dirty="0"/>
          </a:p>
          <a:p>
            <a:r>
              <a:rPr lang="en-US" sz="4300" dirty="0"/>
              <a:t>Bending moment at critical section</a:t>
            </a:r>
          </a:p>
          <a:p>
            <a:endParaRPr lang="en-US" sz="4300" dirty="0"/>
          </a:p>
          <a:p>
            <a:r>
              <a:rPr lang="en-US" sz="4300" dirty="0"/>
              <a:t>Steel reinforcement required</a:t>
            </a:r>
          </a:p>
          <a:p>
            <a:endParaRPr lang="en-US" sz="4300" dirty="0"/>
          </a:p>
          <a:p>
            <a:r>
              <a:rPr lang="en-US" sz="4300" dirty="0"/>
              <a:t>Check for one-way shear</a:t>
            </a:r>
          </a:p>
          <a:p>
            <a:endParaRPr lang="en-US" sz="4300" dirty="0"/>
          </a:p>
          <a:p>
            <a:r>
              <a:rPr lang="en-US" sz="4300" dirty="0"/>
              <a:t>Check for two-way shear (punching)</a:t>
            </a:r>
          </a:p>
          <a:p>
            <a:endParaRPr lang="en-US" sz="4300" dirty="0"/>
          </a:p>
          <a:p>
            <a:r>
              <a:rPr lang="en-US" sz="4300" dirty="0"/>
              <a:t>Development length</a:t>
            </a:r>
          </a:p>
          <a:p>
            <a:endParaRPr lang="en-US" sz="4300" dirty="0"/>
          </a:p>
          <a:p>
            <a:r>
              <a:rPr lang="en-US" sz="4300" dirty="0"/>
              <a:t>Step 7.4: Display footing design with details</a:t>
            </a:r>
          </a:p>
          <a:p>
            <a:endParaRPr lang="en-US" sz="4300" dirty="0"/>
          </a:p>
          <a:p>
            <a:r>
              <a:rPr lang="en-US" sz="4300" dirty="0"/>
              <a:t>Step 7.5: GOTO Step 2</a:t>
            </a:r>
            <a:endParaRPr lang="en-IN" sz="4300" dirty="0"/>
          </a:p>
          <a:p>
            <a:endParaRPr lang="en-IN" sz="900" dirty="0"/>
          </a:p>
        </p:txBody>
      </p:sp>
    </p:spTree>
    <p:extLst>
      <p:ext uri="{BB962C8B-B14F-4D97-AF65-F5344CB8AC3E}">
        <p14:creationId xmlns:p14="http://schemas.microsoft.com/office/powerpoint/2010/main" val="4072323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B92ADB7-9C51-60F4-47F7-3D2E1240AD9E}"/>
              </a:ext>
            </a:extLst>
          </p:cNvPr>
          <p:cNvSpPr>
            <a:spLocks noGrp="1"/>
          </p:cNvSpPr>
          <p:nvPr>
            <p:ph type="body" idx="1"/>
          </p:nvPr>
        </p:nvSpPr>
        <p:spPr>
          <a:xfrm>
            <a:off x="1484310" y="1866899"/>
            <a:ext cx="10018713" cy="3124201"/>
          </a:xfrm>
        </p:spPr>
        <p:txBody>
          <a:bodyPr>
            <a:normAutofit fontScale="25000" lnSpcReduction="20000"/>
          </a:bodyPr>
          <a:lstStyle/>
          <a:p>
            <a:r>
              <a:rPr lang="en-US" sz="5600" dirty="0"/>
              <a:t>Module 5: Truss Analysis</a:t>
            </a:r>
          </a:p>
          <a:p>
            <a:endParaRPr lang="en-US" sz="5600" dirty="0"/>
          </a:p>
          <a:p>
            <a:r>
              <a:rPr lang="en-US" sz="5600" dirty="0"/>
              <a:t>Step 8: ELSE IF choice = 5 (Truss Analysis)</a:t>
            </a:r>
          </a:p>
          <a:p>
            <a:endParaRPr lang="en-US" sz="5600" dirty="0"/>
          </a:p>
          <a:p>
            <a:r>
              <a:rPr lang="en-US" sz="5600" dirty="0"/>
              <a:t>Step 8.1: INPUT truss type:</a:t>
            </a:r>
          </a:p>
          <a:p>
            <a:endParaRPr lang="en-US" sz="5600" dirty="0"/>
          </a:p>
          <a:p>
            <a:r>
              <a:rPr lang="en-US" sz="5600" dirty="0"/>
              <a:t>a. Simple Truss</a:t>
            </a:r>
          </a:p>
          <a:p>
            <a:endParaRPr lang="en-US" sz="5600" dirty="0"/>
          </a:p>
          <a:p>
            <a:r>
              <a:rPr lang="en-US" sz="5600" dirty="0"/>
              <a:t>b. Roof Truss</a:t>
            </a:r>
          </a:p>
          <a:p>
            <a:endParaRPr lang="en-US" sz="5600" dirty="0"/>
          </a:p>
          <a:p>
            <a:r>
              <a:rPr lang="en-US" sz="5600" dirty="0"/>
              <a:t>c. Bridge Truss</a:t>
            </a:r>
          </a:p>
          <a:p>
            <a:endParaRPr lang="en-US" sz="5600" dirty="0"/>
          </a:p>
          <a:p>
            <a:r>
              <a:rPr lang="en-US" sz="5600" dirty="0"/>
              <a:t>Step 8.2: INPUT truss parameters:</a:t>
            </a:r>
          </a:p>
          <a:p>
            <a:endParaRPr lang="en-US" sz="5600" dirty="0"/>
          </a:p>
          <a:p>
            <a:r>
              <a:rPr lang="en-US" sz="5600" dirty="0"/>
              <a:t>Number of joints (n)</a:t>
            </a:r>
          </a:p>
          <a:p>
            <a:endParaRPr lang="en-US" sz="5600" dirty="0"/>
          </a:p>
          <a:p>
            <a:r>
              <a:rPr lang="en-US" sz="5600" dirty="0"/>
              <a:t>Number of members (m)</a:t>
            </a:r>
          </a:p>
          <a:p>
            <a:endParaRPr lang="en-US" sz="5600" dirty="0"/>
          </a:p>
          <a:p>
            <a:r>
              <a:rPr lang="en-US" sz="5600" dirty="0"/>
              <a:t>Support conditions</a:t>
            </a:r>
          </a:p>
          <a:p>
            <a:endParaRPr lang="en-US" sz="5600" dirty="0"/>
          </a:p>
          <a:p>
            <a:r>
              <a:rPr lang="en-US" sz="5600" dirty="0"/>
              <a:t>FOR each joint: INPUT coordinates (x, y)</a:t>
            </a:r>
          </a:p>
          <a:p>
            <a:endParaRPr lang="en-US" sz="5600" dirty="0"/>
          </a:p>
          <a:p>
            <a:endParaRPr lang="en-IN" sz="900" dirty="0"/>
          </a:p>
        </p:txBody>
      </p:sp>
    </p:spTree>
    <p:extLst>
      <p:ext uri="{BB962C8B-B14F-4D97-AF65-F5344CB8AC3E}">
        <p14:creationId xmlns:p14="http://schemas.microsoft.com/office/powerpoint/2010/main" val="3050697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633526-47B9-F9A2-2D8D-91AA46DC3903}"/>
              </a:ext>
            </a:extLst>
          </p:cNvPr>
          <p:cNvSpPr>
            <a:spLocks noGrp="1"/>
          </p:cNvSpPr>
          <p:nvPr>
            <p:ph type="body" idx="1"/>
          </p:nvPr>
        </p:nvSpPr>
        <p:spPr>
          <a:xfrm>
            <a:off x="1498378" y="1866899"/>
            <a:ext cx="10018713" cy="3124201"/>
          </a:xfrm>
        </p:spPr>
        <p:txBody>
          <a:bodyPr>
            <a:normAutofit fontScale="25000" lnSpcReduction="20000"/>
          </a:bodyPr>
          <a:lstStyle/>
          <a:p>
            <a:r>
              <a:rPr lang="en-US" sz="5600" dirty="0"/>
              <a:t>FOR each member: INPUT connectivity (joint </a:t>
            </a:r>
            <a:r>
              <a:rPr lang="en-US" sz="5600" dirty="0" err="1"/>
              <a:t>i</a:t>
            </a:r>
            <a:r>
              <a:rPr lang="en-US" sz="5600" dirty="0"/>
              <a:t> to joint j)</a:t>
            </a:r>
          </a:p>
          <a:p>
            <a:endParaRPr lang="en-US" sz="5600" dirty="0"/>
          </a:p>
          <a:p>
            <a:r>
              <a:rPr lang="en-US" sz="5600" dirty="0"/>
              <a:t>INPUT external loads at joints</a:t>
            </a:r>
          </a:p>
          <a:p>
            <a:endParaRPr lang="en-US" sz="5600" dirty="0"/>
          </a:p>
          <a:p>
            <a:r>
              <a:rPr lang="en-US" sz="5600" dirty="0"/>
              <a:t>Step 8.3: CALCULATE:</a:t>
            </a:r>
          </a:p>
          <a:p>
            <a:endParaRPr lang="en-US" sz="5600" dirty="0"/>
          </a:p>
          <a:p>
            <a:r>
              <a:rPr lang="en-US" sz="5600" dirty="0"/>
              <a:t>Check stability: </a:t>
            </a:r>
            <a:r>
              <a:rPr lang="en-US" sz="5600" dirty="0" err="1"/>
              <a:t>m+r</a:t>
            </a:r>
            <a:r>
              <a:rPr lang="en-US" sz="5600" dirty="0"/>
              <a:t>=2n (where r = reactions)</a:t>
            </a:r>
          </a:p>
          <a:p>
            <a:endParaRPr lang="en-US" sz="5600" dirty="0"/>
          </a:p>
          <a:p>
            <a:r>
              <a:rPr lang="en-US" sz="5600" dirty="0"/>
              <a:t>Apply Method of Joints OR Method of Sections</a:t>
            </a:r>
          </a:p>
          <a:p>
            <a:endParaRPr lang="en-US" sz="5600" dirty="0"/>
          </a:p>
          <a:p>
            <a:r>
              <a:rPr lang="en-US" sz="5600" dirty="0"/>
              <a:t>FOR each joint:</a:t>
            </a:r>
          </a:p>
          <a:p>
            <a:endParaRPr lang="en-US" sz="5600" dirty="0"/>
          </a:p>
          <a:p>
            <a:r>
              <a:rPr lang="en-US" sz="5600" dirty="0"/>
              <a:t>Apply equilibrium equations: EFX = 0, 2F = 0</a:t>
            </a:r>
          </a:p>
          <a:p>
            <a:endParaRPr lang="en-US" sz="5600" dirty="0"/>
          </a:p>
          <a:p>
            <a:r>
              <a:rPr lang="en-US" sz="5600" dirty="0"/>
              <a:t>SOLVE for member forces</a:t>
            </a:r>
          </a:p>
          <a:p>
            <a:endParaRPr lang="en-US" sz="5600" dirty="0"/>
          </a:p>
          <a:p>
            <a:r>
              <a:rPr lang="en-US" sz="5600" dirty="0"/>
              <a:t>Determine tension/compression in each member</a:t>
            </a:r>
          </a:p>
          <a:p>
            <a:endParaRPr lang="en-US" sz="5600" dirty="0"/>
          </a:p>
          <a:p>
            <a:endParaRPr lang="en-IN" sz="900" dirty="0"/>
          </a:p>
        </p:txBody>
      </p:sp>
    </p:spTree>
    <p:extLst>
      <p:ext uri="{BB962C8B-B14F-4D97-AF65-F5344CB8AC3E}">
        <p14:creationId xmlns:p14="http://schemas.microsoft.com/office/powerpoint/2010/main" val="2162852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66B116C-C3D5-EE80-9093-4BBAAFD828DD}"/>
              </a:ext>
            </a:extLst>
          </p:cNvPr>
          <p:cNvSpPr>
            <a:spLocks noGrp="1"/>
          </p:cNvSpPr>
          <p:nvPr>
            <p:ph type="body" idx="1"/>
          </p:nvPr>
        </p:nvSpPr>
        <p:spPr>
          <a:xfrm>
            <a:off x="1554648" y="1738531"/>
            <a:ext cx="10018713" cy="3124201"/>
          </a:xfrm>
        </p:spPr>
        <p:txBody>
          <a:bodyPr>
            <a:normAutofit fontScale="25000" lnSpcReduction="20000"/>
          </a:bodyPr>
          <a:lstStyle/>
          <a:p>
            <a:r>
              <a:rPr lang="en-US" sz="5600" dirty="0"/>
              <a:t>Calculate reactions at supports</a:t>
            </a:r>
          </a:p>
          <a:p>
            <a:endParaRPr lang="en-US" sz="5600" dirty="0"/>
          </a:p>
          <a:p>
            <a:r>
              <a:rPr lang="en-US" sz="5600" dirty="0"/>
              <a:t>Step 8.4: Display member forces with diagram</a:t>
            </a:r>
          </a:p>
          <a:p>
            <a:endParaRPr lang="en-US" sz="5600" dirty="0"/>
          </a:p>
          <a:p>
            <a:r>
              <a:rPr lang="en-US" sz="5600" dirty="0"/>
              <a:t>Step 8.5: Highlight critical members</a:t>
            </a:r>
          </a:p>
          <a:p>
            <a:endParaRPr lang="en-US" sz="5600" dirty="0"/>
          </a:p>
          <a:p>
            <a:r>
              <a:rPr lang="en-US" sz="5600" dirty="0"/>
              <a:t>Step 8.6: GOTO Step 2</a:t>
            </a:r>
          </a:p>
          <a:p>
            <a:endParaRPr lang="en-US" sz="5600" dirty="0"/>
          </a:p>
          <a:p>
            <a:r>
              <a:rPr lang="en-US" sz="5600" dirty="0"/>
              <a:t>Module 6: Material Properties Calculator</a:t>
            </a:r>
          </a:p>
          <a:p>
            <a:endParaRPr lang="en-US" sz="5600" dirty="0"/>
          </a:p>
          <a:p>
            <a:r>
              <a:rPr lang="en-US" sz="5600" dirty="0"/>
              <a:t>Step 9: ELSE IF choice = 6 (Material Properties Calculator)</a:t>
            </a:r>
          </a:p>
          <a:p>
            <a:endParaRPr lang="en-US" sz="5600" dirty="0"/>
          </a:p>
          <a:p>
            <a:r>
              <a:rPr lang="en-US" sz="5600" dirty="0"/>
              <a:t>Step 9.1: Display Material Properties Menu:</a:t>
            </a:r>
          </a:p>
          <a:p>
            <a:endParaRPr lang="en-US" sz="5600" dirty="0"/>
          </a:p>
          <a:p>
            <a:r>
              <a:rPr lang="en-US" sz="5600" dirty="0"/>
              <a:t>a. Concrete Properties</a:t>
            </a:r>
          </a:p>
          <a:p>
            <a:endParaRPr lang="en-US" sz="5600" dirty="0"/>
          </a:p>
          <a:p>
            <a:r>
              <a:rPr lang="en-US" sz="5600" dirty="0"/>
              <a:t>b. Steel Properties</a:t>
            </a:r>
          </a:p>
          <a:p>
            <a:endParaRPr lang="en-IN" sz="900" dirty="0"/>
          </a:p>
        </p:txBody>
      </p:sp>
    </p:spTree>
    <p:extLst>
      <p:ext uri="{BB962C8B-B14F-4D97-AF65-F5344CB8AC3E}">
        <p14:creationId xmlns:p14="http://schemas.microsoft.com/office/powerpoint/2010/main" val="2015640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5E07F34-0C27-9261-AF71-5D8FEFD7AEAD}"/>
              </a:ext>
            </a:extLst>
          </p:cNvPr>
          <p:cNvSpPr>
            <a:spLocks noGrp="1"/>
          </p:cNvSpPr>
          <p:nvPr>
            <p:ph type="body" idx="1"/>
          </p:nvPr>
        </p:nvSpPr>
        <p:spPr>
          <a:xfrm>
            <a:off x="1371769" y="1457178"/>
            <a:ext cx="10018713" cy="3124201"/>
          </a:xfrm>
        </p:spPr>
        <p:txBody>
          <a:bodyPr>
            <a:normAutofit fontScale="25000" lnSpcReduction="20000"/>
          </a:bodyPr>
          <a:lstStyle/>
          <a:p>
            <a:endParaRPr lang="en-US" sz="900" dirty="0"/>
          </a:p>
          <a:p>
            <a:r>
              <a:rPr lang="en-US" sz="7200" dirty="0"/>
              <a:t>c. Timber Properties</a:t>
            </a:r>
          </a:p>
          <a:p>
            <a:endParaRPr lang="en-US" sz="7200" dirty="0"/>
          </a:p>
          <a:p>
            <a:r>
              <a:rPr lang="en-US" sz="7200" dirty="0"/>
              <a:t>d. Composite Materials</a:t>
            </a:r>
          </a:p>
          <a:p>
            <a:endParaRPr lang="en-US" sz="7200" dirty="0"/>
          </a:p>
          <a:p>
            <a:r>
              <a:rPr lang="en-US" sz="7200" dirty="0"/>
              <a:t>Step 9.2: INPUT material selection</a:t>
            </a:r>
          </a:p>
          <a:p>
            <a:endParaRPr lang="en-US" sz="7200" dirty="0"/>
          </a:p>
          <a:p>
            <a:r>
              <a:rPr lang="en-US" sz="7200" dirty="0"/>
              <a:t>Step 9.3: IF Concrete selected:</a:t>
            </a:r>
          </a:p>
          <a:p>
            <a:endParaRPr lang="en-US" sz="7200" dirty="0"/>
          </a:p>
          <a:p>
            <a:r>
              <a:rPr lang="en-US" sz="7200" dirty="0"/>
              <a:t>INPUT concrete grade (M20, M25, M30, etc.)</a:t>
            </a:r>
          </a:p>
          <a:p>
            <a:endParaRPr lang="en-US" sz="7200" dirty="0"/>
          </a:p>
          <a:p>
            <a:r>
              <a:rPr lang="en-US" sz="7200" dirty="0"/>
              <a:t>Display:</a:t>
            </a:r>
          </a:p>
          <a:p>
            <a:endParaRPr lang="en-US" sz="7200" dirty="0"/>
          </a:p>
          <a:p>
            <a:r>
              <a:rPr lang="en-US" sz="7200" dirty="0"/>
              <a:t>Characteristic strength (</a:t>
            </a:r>
            <a:r>
              <a:rPr lang="en-US" sz="7200" dirty="0" err="1"/>
              <a:t>fck</a:t>
            </a:r>
            <a:r>
              <a:rPr lang="en-US" sz="7200" dirty="0"/>
              <a:t>)</a:t>
            </a:r>
          </a:p>
          <a:p>
            <a:endParaRPr lang="en-US" sz="7200" dirty="0"/>
          </a:p>
          <a:p>
            <a:r>
              <a:rPr lang="en-US" sz="7200" dirty="0"/>
              <a:t>Modulus of elasticity: Ee = 5000/</a:t>
            </a:r>
            <a:r>
              <a:rPr lang="en-US" sz="7200" dirty="0" err="1"/>
              <a:t>fck</a:t>
            </a:r>
            <a:endParaRPr lang="en-US" sz="7200" dirty="0"/>
          </a:p>
          <a:p>
            <a:endParaRPr lang="en-IN" sz="900" dirty="0"/>
          </a:p>
        </p:txBody>
      </p:sp>
    </p:spTree>
    <p:extLst>
      <p:ext uri="{BB962C8B-B14F-4D97-AF65-F5344CB8AC3E}">
        <p14:creationId xmlns:p14="http://schemas.microsoft.com/office/powerpoint/2010/main" val="2957713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9C0534D-4CCE-F0BE-3380-612176298F4B}"/>
              </a:ext>
            </a:extLst>
          </p:cNvPr>
          <p:cNvSpPr>
            <a:spLocks noGrp="1"/>
          </p:cNvSpPr>
          <p:nvPr>
            <p:ph type="body" idx="1"/>
          </p:nvPr>
        </p:nvSpPr>
        <p:spPr>
          <a:xfrm>
            <a:off x="1737529" y="1641612"/>
            <a:ext cx="10018713" cy="3124201"/>
          </a:xfrm>
        </p:spPr>
        <p:txBody>
          <a:bodyPr>
            <a:normAutofit fontScale="25000" lnSpcReduction="20000"/>
          </a:bodyPr>
          <a:lstStyle/>
          <a:p>
            <a:endParaRPr lang="en-US" sz="900" dirty="0"/>
          </a:p>
          <a:p>
            <a:r>
              <a:rPr lang="en-US" sz="6400" dirty="0"/>
              <a:t>Density</a:t>
            </a:r>
          </a:p>
          <a:p>
            <a:endParaRPr lang="en-US" sz="6400" dirty="0"/>
          </a:p>
          <a:p>
            <a:r>
              <a:rPr lang="en-US" sz="6400" dirty="0"/>
              <a:t>Poisson's ratio</a:t>
            </a:r>
          </a:p>
          <a:p>
            <a:endParaRPr lang="en-US" sz="6400" dirty="0"/>
          </a:p>
          <a:p>
            <a:r>
              <a:rPr lang="en-US" sz="6400" dirty="0"/>
              <a:t>Permissible stresses</a:t>
            </a:r>
          </a:p>
          <a:p>
            <a:endParaRPr lang="en-US" sz="6400" dirty="0"/>
          </a:p>
          <a:p>
            <a:r>
              <a:rPr lang="en-US" sz="6400" dirty="0"/>
              <a:t>Step 9.4: IF Steel selected:</a:t>
            </a:r>
          </a:p>
          <a:p>
            <a:endParaRPr lang="en-US" sz="6400" dirty="0"/>
          </a:p>
          <a:p>
            <a:r>
              <a:rPr lang="en-US" sz="6400" dirty="0"/>
              <a:t>INPUT steel grade (Fe415, Fe500, etc.)</a:t>
            </a:r>
          </a:p>
          <a:p>
            <a:endParaRPr lang="en-US" sz="6400" dirty="0"/>
          </a:p>
          <a:p>
            <a:r>
              <a:rPr lang="en-US" sz="6400" dirty="0"/>
              <a:t>Display:</a:t>
            </a:r>
          </a:p>
          <a:p>
            <a:endParaRPr lang="en-US" sz="6400" dirty="0"/>
          </a:p>
          <a:p>
            <a:r>
              <a:rPr lang="en-US" sz="6400" dirty="0"/>
              <a:t>Yield strength (</a:t>
            </a:r>
            <a:r>
              <a:rPr lang="en-US" sz="6400" dirty="0" err="1"/>
              <a:t>fy</a:t>
            </a:r>
            <a:r>
              <a:rPr lang="en-US" sz="6400" dirty="0"/>
              <a:t>)</a:t>
            </a:r>
          </a:p>
          <a:p>
            <a:endParaRPr lang="en-US" sz="6400" dirty="0"/>
          </a:p>
          <a:p>
            <a:r>
              <a:rPr lang="en-US" sz="6400" dirty="0"/>
              <a:t>Ultimate strength (fu)</a:t>
            </a:r>
          </a:p>
          <a:p>
            <a:endParaRPr lang="en-US" sz="6400" dirty="0"/>
          </a:p>
          <a:p>
            <a:r>
              <a:rPr lang="en-US" sz="6400" dirty="0"/>
              <a:t>Modulus of elasticity: Es = 200000 N/mm²</a:t>
            </a:r>
          </a:p>
          <a:p>
            <a:endParaRPr lang="en-US" sz="6400" dirty="0"/>
          </a:p>
          <a:p>
            <a:r>
              <a:rPr lang="en-US" sz="6400" dirty="0"/>
              <a:t>Density</a:t>
            </a:r>
          </a:p>
          <a:p>
            <a:endParaRPr lang="en-US" sz="6400" dirty="0"/>
          </a:p>
          <a:p>
            <a:r>
              <a:rPr lang="en-US" sz="6400" dirty="0"/>
              <a:t>Permissible stresses</a:t>
            </a:r>
            <a:endParaRPr lang="en-IN" sz="6400" dirty="0"/>
          </a:p>
        </p:txBody>
      </p:sp>
    </p:spTree>
    <p:extLst>
      <p:ext uri="{BB962C8B-B14F-4D97-AF65-F5344CB8AC3E}">
        <p14:creationId xmlns:p14="http://schemas.microsoft.com/office/powerpoint/2010/main" val="947276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7C4072-ECFF-7848-6830-B8C84C33EC7E}"/>
              </a:ext>
            </a:extLst>
          </p:cNvPr>
          <p:cNvSpPr>
            <a:spLocks noGrp="1"/>
          </p:cNvSpPr>
          <p:nvPr>
            <p:ph type="body" idx="1"/>
          </p:nvPr>
        </p:nvSpPr>
        <p:spPr>
          <a:xfrm>
            <a:off x="1484310" y="1866899"/>
            <a:ext cx="10018713" cy="3124201"/>
          </a:xfrm>
        </p:spPr>
        <p:txBody>
          <a:bodyPr>
            <a:noAutofit/>
          </a:bodyPr>
          <a:lstStyle/>
          <a:p>
            <a:r>
              <a:rPr lang="en-US" sz="1400" dirty="0"/>
              <a:t>Module 7: Load Calculator</a:t>
            </a:r>
          </a:p>
          <a:p>
            <a:endParaRPr lang="en-US" sz="1400" dirty="0"/>
          </a:p>
          <a:p>
            <a:r>
              <a:rPr lang="en-US" sz="1400" dirty="0"/>
              <a:t>Step 10: ELSE IF choice =7 (Load Calculator)</a:t>
            </a:r>
          </a:p>
          <a:p>
            <a:endParaRPr lang="en-US" sz="1400" dirty="0"/>
          </a:p>
          <a:p>
            <a:r>
              <a:rPr lang="en-US" sz="1400" dirty="0"/>
              <a:t>Step 10.1: Display Load Calculator Menu:</a:t>
            </a:r>
          </a:p>
          <a:p>
            <a:endParaRPr lang="en-US" sz="1400" dirty="0"/>
          </a:p>
          <a:p>
            <a:r>
              <a:rPr lang="en-US" sz="1400" dirty="0"/>
              <a:t>a. Dead Load Calculator</a:t>
            </a:r>
          </a:p>
          <a:p>
            <a:endParaRPr lang="en-US" sz="1400" dirty="0"/>
          </a:p>
          <a:p>
            <a:r>
              <a:rPr lang="en-US" sz="1400" dirty="0"/>
              <a:t>b. Live Load Calculator</a:t>
            </a:r>
          </a:p>
          <a:p>
            <a:endParaRPr lang="en-US" sz="1400" dirty="0"/>
          </a:p>
          <a:p>
            <a:r>
              <a:rPr lang="en-US" sz="1400" dirty="0"/>
              <a:t>c. Wind Load Calculator</a:t>
            </a:r>
          </a:p>
          <a:p>
            <a:endParaRPr lang="en-US" sz="1400" dirty="0"/>
          </a:p>
          <a:p>
            <a:r>
              <a:rPr lang="en-US" sz="1400" dirty="0"/>
              <a:t>d. Seismic Load Calculator</a:t>
            </a:r>
          </a:p>
          <a:p>
            <a:endParaRPr lang="en-US" sz="1400" dirty="0"/>
          </a:p>
          <a:p>
            <a:r>
              <a:rPr lang="en-US" sz="1400" dirty="0"/>
              <a:t>e. Snow Load Calculator</a:t>
            </a:r>
          </a:p>
          <a:p>
            <a:endParaRPr lang="en-US" sz="1400" dirty="0"/>
          </a:p>
          <a:p>
            <a:r>
              <a:rPr lang="en-US" sz="1400" dirty="0"/>
              <a:t>Step 10.2: INPUT load type selection</a:t>
            </a:r>
          </a:p>
          <a:p>
            <a:endParaRPr lang="en-US" sz="1400" dirty="0"/>
          </a:p>
          <a:p>
            <a:r>
              <a:rPr lang="en-US" sz="1400" dirty="0"/>
              <a:t>Step 10.3: IF Dead Load:</a:t>
            </a:r>
          </a:p>
          <a:p>
            <a:endParaRPr lang="en-US" sz="1400" dirty="0"/>
          </a:p>
          <a:p>
            <a:r>
              <a:rPr lang="en-US" sz="1400" dirty="0"/>
              <a:t>INPUT material type and dimensions</a:t>
            </a:r>
          </a:p>
        </p:txBody>
      </p:sp>
    </p:spTree>
    <p:extLst>
      <p:ext uri="{BB962C8B-B14F-4D97-AF65-F5344CB8AC3E}">
        <p14:creationId xmlns:p14="http://schemas.microsoft.com/office/powerpoint/2010/main" val="1860140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20367A-0274-0018-CF7D-512C037BAE1F}"/>
              </a:ext>
            </a:extLst>
          </p:cNvPr>
          <p:cNvSpPr>
            <a:spLocks noGrp="1"/>
          </p:cNvSpPr>
          <p:nvPr>
            <p:ph type="body" idx="1"/>
          </p:nvPr>
        </p:nvSpPr>
        <p:spPr>
          <a:xfrm>
            <a:off x="1653122" y="1724464"/>
            <a:ext cx="10018713" cy="3124201"/>
          </a:xfrm>
        </p:spPr>
        <p:txBody>
          <a:bodyPr>
            <a:normAutofit fontScale="25000" lnSpcReduction="20000"/>
          </a:bodyPr>
          <a:lstStyle/>
          <a:p>
            <a:endParaRPr lang="en-US" sz="5600" dirty="0"/>
          </a:p>
          <a:p>
            <a:r>
              <a:rPr lang="en-US" sz="5600" dirty="0"/>
              <a:t>RETRIEVE unit weight from database</a:t>
            </a:r>
          </a:p>
          <a:p>
            <a:endParaRPr lang="en-US" sz="5600" dirty="0"/>
          </a:p>
          <a:p>
            <a:r>
              <a:rPr lang="en-US" sz="5600" dirty="0"/>
              <a:t>CALCULATE: DL = Volume × Unit Weight</a:t>
            </a:r>
          </a:p>
          <a:p>
            <a:endParaRPr lang="en-US" sz="5600" dirty="0"/>
          </a:p>
          <a:p>
            <a:r>
              <a:rPr lang="en-US" sz="5600" dirty="0"/>
              <a:t>Step 10.4: IF Live Load:</a:t>
            </a:r>
          </a:p>
          <a:p>
            <a:endParaRPr lang="en-US" sz="5600" dirty="0"/>
          </a:p>
          <a:p>
            <a:r>
              <a:rPr lang="en-US" sz="5600" dirty="0"/>
              <a:t>INPUT occupancy type (residential, office, etc.)</a:t>
            </a:r>
          </a:p>
          <a:p>
            <a:endParaRPr lang="en-US" sz="5600" dirty="0"/>
          </a:p>
          <a:p>
            <a:r>
              <a:rPr lang="en-US" sz="5600" dirty="0"/>
              <a:t>RETRIEVE standard LL from IS code</a:t>
            </a:r>
          </a:p>
          <a:p>
            <a:endParaRPr lang="en-US" sz="5600" dirty="0"/>
          </a:p>
          <a:p>
            <a:r>
              <a:rPr lang="en-US" sz="5600" dirty="0"/>
              <a:t>CALCULATE total live load</a:t>
            </a:r>
          </a:p>
          <a:p>
            <a:endParaRPr lang="en-US" sz="5600" dirty="0"/>
          </a:p>
          <a:p>
            <a:r>
              <a:rPr lang="en-US" sz="5600" dirty="0"/>
              <a:t>Step 10.5: IF Wind Load:</a:t>
            </a:r>
          </a:p>
          <a:p>
            <a:endParaRPr lang="en-US" sz="5600" dirty="0"/>
          </a:p>
          <a:p>
            <a:r>
              <a:rPr lang="en-US" sz="5600" dirty="0"/>
              <a:t>INPUT:</a:t>
            </a:r>
          </a:p>
          <a:p>
            <a:endParaRPr lang="en-US" sz="5600" dirty="0"/>
          </a:p>
          <a:p>
            <a:r>
              <a:rPr lang="en-US" sz="5600" dirty="0"/>
              <a:t>Building height</a:t>
            </a:r>
          </a:p>
          <a:p>
            <a:endParaRPr lang="en-US" sz="5600" dirty="0"/>
          </a:p>
          <a:p>
            <a:r>
              <a:rPr lang="en-US" sz="5600" dirty="0"/>
              <a:t>Basic wind speed (</a:t>
            </a:r>
            <a:r>
              <a:rPr lang="en-US" sz="5600" dirty="0" err="1"/>
              <a:t>Vb</a:t>
            </a:r>
            <a:r>
              <a:rPr lang="en-US" sz="5600" dirty="0"/>
              <a:t>)</a:t>
            </a:r>
          </a:p>
          <a:p>
            <a:endParaRPr lang="en-US" sz="5600" dirty="0"/>
          </a:p>
          <a:p>
            <a:r>
              <a:rPr lang="en-US" sz="5600" dirty="0"/>
              <a:t>Terrain category</a:t>
            </a:r>
          </a:p>
          <a:p>
            <a:endParaRPr lang="en-US" sz="5600" dirty="0"/>
          </a:p>
          <a:p>
            <a:endParaRPr lang="en-IN" sz="900" dirty="0"/>
          </a:p>
        </p:txBody>
      </p:sp>
    </p:spTree>
    <p:extLst>
      <p:ext uri="{BB962C8B-B14F-4D97-AF65-F5344CB8AC3E}">
        <p14:creationId xmlns:p14="http://schemas.microsoft.com/office/powerpoint/2010/main" val="3846612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59936A-BD91-58DD-139D-134A292E74C2}"/>
              </a:ext>
            </a:extLst>
          </p:cNvPr>
          <p:cNvSpPr>
            <a:spLocks noGrp="1"/>
          </p:cNvSpPr>
          <p:nvPr>
            <p:ph type="body" idx="1"/>
          </p:nvPr>
        </p:nvSpPr>
        <p:spPr>
          <a:xfrm>
            <a:off x="1484310" y="1866899"/>
            <a:ext cx="10018713" cy="3124201"/>
          </a:xfrm>
        </p:spPr>
        <p:txBody>
          <a:bodyPr>
            <a:normAutofit fontScale="25000" lnSpcReduction="20000"/>
          </a:bodyPr>
          <a:lstStyle/>
          <a:p>
            <a:r>
              <a:rPr lang="en-US" sz="5600" dirty="0"/>
              <a:t>Structure dimensions</a:t>
            </a:r>
          </a:p>
          <a:p>
            <a:endParaRPr lang="en-US" sz="5600" dirty="0"/>
          </a:p>
          <a:p>
            <a:r>
              <a:rPr lang="en-US" sz="5600" dirty="0"/>
              <a:t>CALCULATE:</a:t>
            </a:r>
          </a:p>
          <a:p>
            <a:endParaRPr lang="en-US" sz="5600" dirty="0"/>
          </a:p>
          <a:p>
            <a:r>
              <a:rPr lang="en-US" sz="5600" dirty="0"/>
              <a:t>Design wind speed: Vzk1xk2xk3x </a:t>
            </a:r>
            <a:r>
              <a:rPr lang="en-US" sz="5600" dirty="0" err="1"/>
              <a:t>Vb</a:t>
            </a:r>
            <a:endParaRPr lang="en-US" sz="5600" dirty="0"/>
          </a:p>
          <a:p>
            <a:endParaRPr lang="en-US" sz="5600" dirty="0"/>
          </a:p>
          <a:p>
            <a:r>
              <a:rPr lang="en-US" sz="5600" dirty="0"/>
              <a:t>Wind pressure: </a:t>
            </a:r>
            <a:r>
              <a:rPr lang="en-US" sz="5600" dirty="0" err="1"/>
              <a:t>pz</a:t>
            </a:r>
            <a:r>
              <a:rPr lang="en-US" sz="5600" dirty="0"/>
              <a:t> = 0.6 × </a:t>
            </a:r>
            <a:r>
              <a:rPr lang="en-US" sz="5600" dirty="0" err="1"/>
              <a:t>Vz</a:t>
            </a:r>
            <a:endParaRPr lang="en-US" sz="5600" dirty="0"/>
          </a:p>
          <a:p>
            <a:endParaRPr lang="en-US" sz="5600" dirty="0"/>
          </a:p>
          <a:p>
            <a:r>
              <a:rPr lang="en-US" sz="5600" dirty="0"/>
              <a:t>Wind force on structure</a:t>
            </a:r>
          </a:p>
          <a:p>
            <a:endParaRPr lang="en-US" sz="5600" dirty="0"/>
          </a:p>
          <a:p>
            <a:r>
              <a:rPr lang="en-US" sz="5600" dirty="0"/>
              <a:t>Step 10.6: IF Seismic Load:</a:t>
            </a:r>
          </a:p>
          <a:p>
            <a:endParaRPr lang="en-US" sz="5600" dirty="0"/>
          </a:p>
          <a:p>
            <a:r>
              <a:rPr lang="en-US" sz="5600" dirty="0"/>
              <a:t>INPUT:</a:t>
            </a:r>
          </a:p>
          <a:p>
            <a:endParaRPr lang="en-US" sz="5600" dirty="0"/>
          </a:p>
          <a:p>
            <a:r>
              <a:rPr lang="en-US" sz="5600" dirty="0"/>
              <a:t>Seismic zone</a:t>
            </a:r>
          </a:p>
          <a:p>
            <a:endParaRPr lang="en-US" sz="5600" dirty="0"/>
          </a:p>
          <a:p>
            <a:r>
              <a:rPr lang="en-US" sz="5600" dirty="0"/>
              <a:t>Soil type</a:t>
            </a:r>
          </a:p>
          <a:p>
            <a:endParaRPr lang="en-US" sz="5600" dirty="0"/>
          </a:p>
          <a:p>
            <a:r>
              <a:rPr lang="en-US" sz="5600" dirty="0"/>
              <a:t>Building weight</a:t>
            </a:r>
          </a:p>
          <a:p>
            <a:endParaRPr lang="en-IN" sz="900" dirty="0"/>
          </a:p>
        </p:txBody>
      </p:sp>
    </p:spTree>
    <p:extLst>
      <p:ext uri="{BB962C8B-B14F-4D97-AF65-F5344CB8AC3E}">
        <p14:creationId xmlns:p14="http://schemas.microsoft.com/office/powerpoint/2010/main" val="2470515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A36345B-78AB-F67A-3329-288810B01CC2}"/>
              </a:ext>
            </a:extLst>
          </p:cNvPr>
          <p:cNvSpPr>
            <a:spLocks noGrp="1"/>
          </p:cNvSpPr>
          <p:nvPr>
            <p:ph type="body" idx="1"/>
          </p:nvPr>
        </p:nvSpPr>
        <p:spPr>
          <a:xfrm>
            <a:off x="1610919" y="1866899"/>
            <a:ext cx="10018713" cy="3124201"/>
          </a:xfrm>
        </p:spPr>
        <p:txBody>
          <a:bodyPr>
            <a:normAutofit fontScale="25000" lnSpcReduction="20000"/>
          </a:bodyPr>
          <a:lstStyle/>
          <a:p>
            <a:endParaRPr lang="en-US" sz="900" dirty="0"/>
          </a:p>
          <a:p>
            <a:r>
              <a:rPr lang="en-US" sz="5600" dirty="0"/>
              <a:t>Importance factor</a:t>
            </a:r>
          </a:p>
          <a:p>
            <a:endParaRPr lang="en-US" sz="5600" dirty="0"/>
          </a:p>
          <a:p>
            <a:r>
              <a:rPr lang="en-US" sz="5600" dirty="0"/>
              <a:t>Response reduction factor</a:t>
            </a:r>
          </a:p>
          <a:p>
            <a:endParaRPr lang="en-US" sz="5600" dirty="0"/>
          </a:p>
          <a:p>
            <a:r>
              <a:rPr lang="en-US" sz="5600" dirty="0"/>
              <a:t>CALCULATE:</a:t>
            </a:r>
          </a:p>
          <a:p>
            <a:endParaRPr lang="en-US" sz="5600" dirty="0"/>
          </a:p>
          <a:p>
            <a:r>
              <a:rPr lang="en-US" sz="5600" dirty="0"/>
              <a:t>Base shear: </a:t>
            </a:r>
            <a:r>
              <a:rPr lang="en-US" sz="5600" dirty="0" err="1"/>
              <a:t>Vb</a:t>
            </a:r>
            <a:r>
              <a:rPr lang="en-US" sz="5600" dirty="0"/>
              <a:t> = Ah x W</a:t>
            </a:r>
          </a:p>
          <a:p>
            <a:endParaRPr lang="en-US" sz="5600" dirty="0"/>
          </a:p>
          <a:p>
            <a:r>
              <a:rPr lang="en-US" sz="5600" dirty="0"/>
              <a:t>Distribution of forces to floors</a:t>
            </a:r>
          </a:p>
          <a:p>
            <a:endParaRPr lang="en-US" sz="5600" dirty="0"/>
          </a:p>
          <a:p>
            <a:r>
              <a:rPr lang="en-US" sz="5600" dirty="0"/>
              <a:t>Step 10.7: Display calculated loads</a:t>
            </a:r>
          </a:p>
          <a:p>
            <a:endParaRPr lang="en-US" sz="5600" dirty="0"/>
          </a:p>
          <a:p>
            <a:r>
              <a:rPr lang="en-US" sz="5600" dirty="0"/>
              <a:t>Step 10.8: GOTO Step 2</a:t>
            </a:r>
          </a:p>
          <a:p>
            <a:endParaRPr lang="en-US" sz="5600" dirty="0"/>
          </a:p>
          <a:p>
            <a:r>
              <a:rPr lang="en-US" sz="5600" dirty="0"/>
              <a:t>Module 8: Deflection Calculator</a:t>
            </a:r>
          </a:p>
          <a:p>
            <a:endParaRPr lang="en-US" sz="5600" dirty="0"/>
          </a:p>
          <a:p>
            <a:r>
              <a:rPr lang="en-US" sz="5600" dirty="0"/>
              <a:t>Step 11: ELSE IF choice = 8 (Deflection Calculator)</a:t>
            </a:r>
          </a:p>
          <a:p>
            <a:endParaRPr lang="en-US" sz="5600" dirty="0"/>
          </a:p>
          <a:p>
            <a:r>
              <a:rPr lang="en-US" sz="5600" dirty="0"/>
              <a:t>Step 11.1: INPUT beam/member type:</a:t>
            </a:r>
          </a:p>
          <a:p>
            <a:endParaRPr lang="en-US" sz="5600" dirty="0"/>
          </a:p>
          <a:p>
            <a:r>
              <a:rPr lang="en-US" sz="5600" dirty="0"/>
              <a:t>a. Simply Supported Beam</a:t>
            </a:r>
          </a:p>
          <a:p>
            <a:r>
              <a:rPr lang="en-US" sz="5600" dirty="0"/>
              <a:t>b. Cantilever Beam</a:t>
            </a:r>
          </a:p>
          <a:p>
            <a:r>
              <a:rPr lang="en-US" sz="5600" dirty="0"/>
              <a:t>c. Fixed Beam</a:t>
            </a:r>
            <a:endParaRPr lang="en-IN" sz="5600" dirty="0"/>
          </a:p>
          <a:p>
            <a:endParaRPr lang="en-IN" sz="900" dirty="0"/>
          </a:p>
        </p:txBody>
      </p:sp>
    </p:spTree>
    <p:extLst>
      <p:ext uri="{BB962C8B-B14F-4D97-AF65-F5344CB8AC3E}">
        <p14:creationId xmlns:p14="http://schemas.microsoft.com/office/powerpoint/2010/main" val="2473622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573DE94-8258-CDC4-D750-B15E125B591C}"/>
              </a:ext>
            </a:extLst>
          </p:cNvPr>
          <p:cNvSpPr>
            <a:spLocks noGrp="1"/>
          </p:cNvSpPr>
          <p:nvPr>
            <p:ph type="body" idx="1"/>
          </p:nvPr>
        </p:nvSpPr>
        <p:spPr>
          <a:xfrm>
            <a:off x="1484310" y="1555651"/>
            <a:ext cx="10018713" cy="3124201"/>
          </a:xfrm>
        </p:spPr>
        <p:txBody>
          <a:bodyPr>
            <a:normAutofit fontScale="25000" lnSpcReduction="20000"/>
          </a:bodyPr>
          <a:lstStyle/>
          <a:p>
            <a:r>
              <a:rPr lang="en-US" sz="5600" dirty="0"/>
              <a:t>Step 11.2: INPUT parameters:</a:t>
            </a:r>
          </a:p>
          <a:p>
            <a:endParaRPr lang="en-US" sz="5600" dirty="0"/>
          </a:p>
          <a:p>
            <a:r>
              <a:rPr lang="en-US" sz="5600" dirty="0"/>
              <a:t>Length (L)</a:t>
            </a:r>
          </a:p>
          <a:p>
            <a:endParaRPr lang="en-US" sz="5600" dirty="0"/>
          </a:p>
          <a:p>
            <a:r>
              <a:rPr lang="en-US" sz="5600" dirty="0"/>
              <a:t>Moment of inertia (1)</a:t>
            </a:r>
          </a:p>
          <a:p>
            <a:endParaRPr lang="en-US" sz="5600" dirty="0"/>
          </a:p>
          <a:p>
            <a:r>
              <a:rPr lang="en-US" sz="5600" dirty="0"/>
              <a:t>Modulus of elasticity (E)</a:t>
            </a:r>
          </a:p>
          <a:p>
            <a:endParaRPr lang="en-US" sz="5600" dirty="0"/>
          </a:p>
          <a:p>
            <a:r>
              <a:rPr lang="en-US" sz="5600" dirty="0"/>
              <a:t>Loading (UDL/Point Load)</a:t>
            </a:r>
          </a:p>
          <a:p>
            <a:endParaRPr lang="en-US" sz="5600" dirty="0"/>
          </a:p>
          <a:p>
            <a:r>
              <a:rPr lang="en-US" sz="5600" dirty="0"/>
              <a:t>Load magnitude (w or P)</a:t>
            </a:r>
          </a:p>
          <a:p>
            <a:endParaRPr lang="en-US" sz="5600" dirty="0"/>
          </a:p>
          <a:p>
            <a:r>
              <a:rPr lang="en-US" sz="5600" dirty="0"/>
              <a:t>Step 11.3: CALCULATE deflection based on beam type:</a:t>
            </a:r>
          </a:p>
          <a:p>
            <a:endParaRPr lang="en-US" sz="5600" dirty="0"/>
          </a:p>
          <a:p>
            <a:r>
              <a:rPr lang="en-US" sz="5600" dirty="0"/>
              <a:t>Simply Supported with UDL: 8 = (5xwxL)/(384×EXI)</a:t>
            </a:r>
          </a:p>
          <a:p>
            <a:endParaRPr lang="en-US" sz="5600" dirty="0"/>
          </a:p>
          <a:p>
            <a:r>
              <a:rPr lang="en-US" sz="5600" dirty="0"/>
              <a:t>Simply Supported with Point Load: 8 = (PL)/(48xExI)</a:t>
            </a:r>
          </a:p>
          <a:p>
            <a:endParaRPr lang="en-IN" sz="900" dirty="0"/>
          </a:p>
        </p:txBody>
      </p:sp>
    </p:spTree>
    <p:extLst>
      <p:ext uri="{BB962C8B-B14F-4D97-AF65-F5344CB8AC3E}">
        <p14:creationId xmlns:p14="http://schemas.microsoft.com/office/powerpoint/2010/main" val="2963585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D2A4A67-A7FA-14CF-EABA-44CAD72468D1}"/>
              </a:ext>
            </a:extLst>
          </p:cNvPr>
          <p:cNvSpPr>
            <a:spLocks noGrp="1"/>
          </p:cNvSpPr>
          <p:nvPr>
            <p:ph type="body" idx="1"/>
          </p:nvPr>
        </p:nvSpPr>
        <p:spPr>
          <a:xfrm>
            <a:off x="1484310" y="1562099"/>
            <a:ext cx="10018713" cy="3124201"/>
          </a:xfrm>
        </p:spPr>
        <p:txBody>
          <a:bodyPr>
            <a:normAutofit fontScale="25000" lnSpcReduction="20000"/>
          </a:bodyPr>
          <a:lstStyle/>
          <a:p>
            <a:endParaRPr lang="en-US" sz="5600" dirty="0"/>
          </a:p>
          <a:p>
            <a:r>
              <a:rPr lang="en-US" sz="5600" dirty="0"/>
              <a:t>Cantilever with UDL: 8 = (</a:t>
            </a:r>
            <a:r>
              <a:rPr lang="en-US" sz="5600" dirty="0" err="1"/>
              <a:t>wxL</a:t>
            </a:r>
            <a:r>
              <a:rPr lang="en-US" sz="5600" dirty="0"/>
              <a:t>)/(8×ExI)</a:t>
            </a:r>
          </a:p>
          <a:p>
            <a:endParaRPr lang="en-US" sz="5600" dirty="0"/>
          </a:p>
          <a:p>
            <a:r>
              <a:rPr lang="en-US" sz="5600" dirty="0"/>
              <a:t>Cantilever with Point Load: 8 (</a:t>
            </a:r>
            <a:r>
              <a:rPr lang="en-US" sz="5600" dirty="0" err="1"/>
              <a:t>PxL</a:t>
            </a:r>
            <a:r>
              <a:rPr lang="en-US" sz="5600" dirty="0"/>
              <a:t>)/(3xExI)</a:t>
            </a:r>
          </a:p>
          <a:p>
            <a:endParaRPr lang="en-US" sz="5600" dirty="0"/>
          </a:p>
          <a:p>
            <a:r>
              <a:rPr lang="en-US" sz="5600" dirty="0"/>
              <a:t>Step 11.4: CHECK if deflection is within permissible limits: L/250</a:t>
            </a:r>
          </a:p>
          <a:p>
            <a:endParaRPr lang="en-US" sz="5600" dirty="0"/>
          </a:p>
          <a:p>
            <a:r>
              <a:rPr lang="en-US" sz="5600" dirty="0"/>
              <a:t>Step 11.5: Display deflection value and status</a:t>
            </a:r>
          </a:p>
          <a:p>
            <a:endParaRPr lang="en-US" sz="5600" dirty="0"/>
          </a:p>
          <a:p>
            <a:r>
              <a:rPr lang="en-US" sz="5600" dirty="0"/>
              <a:t>Step 11.6: Plot deflection diagram</a:t>
            </a:r>
          </a:p>
          <a:p>
            <a:endParaRPr lang="en-US" sz="5600" dirty="0"/>
          </a:p>
          <a:p>
            <a:r>
              <a:rPr lang="en-US" sz="5600" dirty="0"/>
              <a:t>Step 11.7: GOTO Step 2</a:t>
            </a:r>
          </a:p>
          <a:p>
            <a:endParaRPr lang="en-US" sz="5600" dirty="0"/>
          </a:p>
          <a:p>
            <a:r>
              <a:rPr lang="en-US" sz="5600" dirty="0"/>
              <a:t>Module 9: Shear Force and Bending Moment</a:t>
            </a:r>
          </a:p>
          <a:p>
            <a:endParaRPr lang="en-US" sz="5600" dirty="0"/>
          </a:p>
          <a:p>
            <a:r>
              <a:rPr lang="en-US" sz="5600" dirty="0"/>
              <a:t>Step 12: ELSE IF choice = 9 (Shear Force and Bending Moment)</a:t>
            </a:r>
          </a:p>
          <a:p>
            <a:endParaRPr lang="en-US" sz="5600" dirty="0"/>
          </a:p>
          <a:p>
            <a:r>
              <a:rPr lang="en-US" sz="5600" dirty="0"/>
              <a:t>Step 12.1: INPUT beam type and support conditions</a:t>
            </a:r>
          </a:p>
          <a:p>
            <a:endParaRPr lang="en-IN" sz="900" dirty="0"/>
          </a:p>
        </p:txBody>
      </p:sp>
    </p:spTree>
    <p:extLst>
      <p:ext uri="{BB962C8B-B14F-4D97-AF65-F5344CB8AC3E}">
        <p14:creationId xmlns:p14="http://schemas.microsoft.com/office/powerpoint/2010/main" val="728340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829ED50-358C-63AB-05A0-79E8EFFC974B}"/>
              </a:ext>
            </a:extLst>
          </p:cNvPr>
          <p:cNvSpPr>
            <a:spLocks noGrp="1"/>
          </p:cNvSpPr>
          <p:nvPr>
            <p:ph type="body" idx="1"/>
          </p:nvPr>
        </p:nvSpPr>
        <p:spPr>
          <a:xfrm>
            <a:off x="1610919" y="1866899"/>
            <a:ext cx="10018713" cy="3124201"/>
          </a:xfrm>
        </p:spPr>
        <p:txBody>
          <a:bodyPr>
            <a:normAutofit fontScale="25000" lnSpcReduction="20000"/>
          </a:bodyPr>
          <a:lstStyle/>
          <a:p>
            <a:endParaRPr lang="en-US" sz="900" dirty="0"/>
          </a:p>
          <a:p>
            <a:r>
              <a:rPr lang="en-US" sz="5600" dirty="0"/>
              <a:t>Step 12.2: INPUT:</a:t>
            </a:r>
          </a:p>
          <a:p>
            <a:endParaRPr lang="en-US" sz="5600" dirty="0"/>
          </a:p>
          <a:p>
            <a:r>
              <a:rPr lang="en-US" sz="5600" dirty="0"/>
              <a:t>Beam length (L)</a:t>
            </a:r>
          </a:p>
          <a:p>
            <a:endParaRPr lang="en-US" sz="5600" dirty="0"/>
          </a:p>
          <a:p>
            <a:r>
              <a:rPr lang="en-US" sz="5600" dirty="0"/>
              <a:t>Number of loads</a:t>
            </a:r>
          </a:p>
          <a:p>
            <a:endParaRPr lang="en-US" sz="5600" dirty="0"/>
          </a:p>
          <a:p>
            <a:r>
              <a:rPr lang="en-US" sz="5600" dirty="0"/>
              <a:t>FOR each load: INPUT position and magnitude</a:t>
            </a:r>
          </a:p>
          <a:p>
            <a:endParaRPr lang="en-US" sz="5600" dirty="0"/>
          </a:p>
          <a:p>
            <a:r>
              <a:rPr lang="en-US" sz="5600" dirty="0"/>
              <a:t>Support locations</a:t>
            </a:r>
          </a:p>
          <a:p>
            <a:endParaRPr lang="en-US" sz="5600" dirty="0"/>
          </a:p>
          <a:p>
            <a:r>
              <a:rPr lang="en-US" sz="5600" dirty="0"/>
              <a:t>Step 12.3: CALCULATE reactions at supports:</a:t>
            </a:r>
          </a:p>
          <a:p>
            <a:endParaRPr lang="en-US" sz="5600" dirty="0"/>
          </a:p>
          <a:p>
            <a:r>
              <a:rPr lang="en-US" sz="5600" dirty="0"/>
              <a:t>Apply Fy = 0</a:t>
            </a:r>
          </a:p>
          <a:p>
            <a:endParaRPr lang="en-US" sz="5600" dirty="0"/>
          </a:p>
          <a:p>
            <a:r>
              <a:rPr lang="en-US" sz="5600" dirty="0"/>
              <a:t>Apply ΣΜ = 0</a:t>
            </a:r>
          </a:p>
          <a:p>
            <a:endParaRPr lang="en-US" sz="5600" dirty="0"/>
          </a:p>
          <a:p>
            <a:r>
              <a:rPr lang="en-US" sz="5600" dirty="0"/>
              <a:t>SOLVE for reactions</a:t>
            </a:r>
          </a:p>
          <a:p>
            <a:endParaRPr lang="en-US" sz="5600" dirty="0"/>
          </a:p>
          <a:p>
            <a:r>
              <a:rPr lang="en-US" sz="5600" dirty="0"/>
              <a:t>Step 12.4: CALCULATE Shear Force:</a:t>
            </a:r>
          </a:p>
          <a:p>
            <a:endParaRPr lang="en-US" sz="900" dirty="0"/>
          </a:p>
        </p:txBody>
      </p:sp>
    </p:spTree>
    <p:extLst>
      <p:ext uri="{BB962C8B-B14F-4D97-AF65-F5344CB8AC3E}">
        <p14:creationId xmlns:p14="http://schemas.microsoft.com/office/powerpoint/2010/main" val="856905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349BEC3-AEE2-3B89-935A-5C4E215A8858}"/>
              </a:ext>
            </a:extLst>
          </p:cNvPr>
          <p:cNvSpPr>
            <a:spLocks noGrp="1"/>
          </p:cNvSpPr>
          <p:nvPr>
            <p:ph type="body" idx="1"/>
          </p:nvPr>
        </p:nvSpPr>
        <p:spPr>
          <a:xfrm>
            <a:off x="1653122" y="1866899"/>
            <a:ext cx="10018713" cy="3124201"/>
          </a:xfrm>
        </p:spPr>
        <p:txBody>
          <a:bodyPr>
            <a:normAutofit fontScale="25000" lnSpcReduction="20000"/>
          </a:bodyPr>
          <a:lstStyle/>
          <a:p>
            <a:r>
              <a:rPr lang="en-US" sz="4800" dirty="0"/>
              <a:t>Divide beam into segments</a:t>
            </a:r>
          </a:p>
          <a:p>
            <a:endParaRPr lang="en-US" sz="4800" dirty="0"/>
          </a:p>
          <a:p>
            <a:r>
              <a:rPr lang="en-US" sz="4800" dirty="0"/>
              <a:t>FOR each segment:</a:t>
            </a:r>
          </a:p>
          <a:p>
            <a:endParaRPr lang="en-US" sz="4800" dirty="0"/>
          </a:p>
          <a:p>
            <a:r>
              <a:rPr lang="en-US" sz="4800" dirty="0"/>
              <a:t>Calculate SF = Reaction - Loads up to that point</a:t>
            </a:r>
          </a:p>
          <a:p>
            <a:endParaRPr lang="en-US" sz="4800" dirty="0"/>
          </a:p>
          <a:p>
            <a:r>
              <a:rPr lang="en-US" sz="4800" dirty="0"/>
              <a:t>Step 12.5: CALCULATE Bending Moment:</a:t>
            </a:r>
          </a:p>
          <a:p>
            <a:endParaRPr lang="en-US" sz="4800" dirty="0"/>
          </a:p>
          <a:p>
            <a:r>
              <a:rPr lang="en-US" sz="4800" dirty="0"/>
              <a:t>FOR each segment:</a:t>
            </a:r>
          </a:p>
          <a:p>
            <a:endParaRPr lang="en-US" sz="4800" dirty="0"/>
          </a:p>
          <a:p>
            <a:r>
              <a:rPr lang="en-US" sz="4800" dirty="0"/>
              <a:t>Calculate BM EM about that point</a:t>
            </a:r>
          </a:p>
          <a:p>
            <a:endParaRPr lang="en-US" sz="4800" dirty="0"/>
          </a:p>
          <a:p>
            <a:r>
              <a:rPr lang="en-US" sz="4800" dirty="0"/>
              <a:t>Step 12.6: Find maximum values:</a:t>
            </a:r>
          </a:p>
          <a:p>
            <a:endParaRPr lang="en-US" sz="4800" dirty="0"/>
          </a:p>
          <a:p>
            <a:r>
              <a:rPr lang="en-US" sz="4800" dirty="0" err="1"/>
              <a:t>V_max</a:t>
            </a:r>
            <a:r>
              <a:rPr lang="en-US" sz="4800" dirty="0"/>
              <a:t> (maximum shear force)</a:t>
            </a:r>
          </a:p>
          <a:p>
            <a:endParaRPr lang="en-US" sz="4800" dirty="0"/>
          </a:p>
          <a:p>
            <a:r>
              <a:rPr lang="en-US" sz="4800" dirty="0" err="1"/>
              <a:t>M_max</a:t>
            </a:r>
            <a:r>
              <a:rPr lang="en-US" sz="4800" dirty="0"/>
              <a:t> (maximum bending moment)</a:t>
            </a:r>
          </a:p>
          <a:p>
            <a:endParaRPr lang="en-US" sz="4800" dirty="0"/>
          </a:p>
          <a:p>
            <a:r>
              <a:rPr lang="en-US" sz="4800" dirty="0"/>
              <a:t>Locations of maximum values</a:t>
            </a:r>
          </a:p>
          <a:p>
            <a:endParaRPr lang="en-US" sz="4800" dirty="0"/>
          </a:p>
          <a:p>
            <a:r>
              <a:rPr lang="en-US" sz="4800" dirty="0"/>
              <a:t>Step 12.7: Plot SF and BM diagrams</a:t>
            </a:r>
          </a:p>
          <a:p>
            <a:endParaRPr lang="en-US" sz="4800" dirty="0"/>
          </a:p>
          <a:p>
            <a:r>
              <a:rPr lang="en-US" sz="4800" dirty="0"/>
              <a:t>Step 12.8: Display point of contraflexure if any</a:t>
            </a:r>
          </a:p>
          <a:p>
            <a:endParaRPr lang="en-US" sz="4800" dirty="0"/>
          </a:p>
          <a:p>
            <a:r>
              <a:rPr lang="en-US" sz="4800" dirty="0"/>
              <a:t>Step 12.9: GOTO Step 2</a:t>
            </a:r>
            <a:endParaRPr lang="en-IN" sz="4800" dirty="0"/>
          </a:p>
          <a:p>
            <a:endParaRPr lang="en-IN" sz="900" dirty="0"/>
          </a:p>
        </p:txBody>
      </p:sp>
    </p:spTree>
    <p:extLst>
      <p:ext uri="{BB962C8B-B14F-4D97-AF65-F5344CB8AC3E}">
        <p14:creationId xmlns:p14="http://schemas.microsoft.com/office/powerpoint/2010/main" val="12434280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29BA7B7-42A4-1E53-C6FC-052A41143BE7}"/>
              </a:ext>
            </a:extLst>
          </p:cNvPr>
          <p:cNvSpPr>
            <a:spLocks noGrp="1"/>
          </p:cNvSpPr>
          <p:nvPr>
            <p:ph type="body" idx="1"/>
          </p:nvPr>
        </p:nvSpPr>
        <p:spPr>
          <a:xfrm>
            <a:off x="1484311" y="1562099"/>
            <a:ext cx="10018713" cy="3124201"/>
          </a:xfrm>
        </p:spPr>
        <p:txBody>
          <a:bodyPr>
            <a:noAutofit/>
          </a:bodyPr>
          <a:lstStyle/>
          <a:p>
            <a:r>
              <a:rPr lang="en-US" sz="1400" dirty="0"/>
              <a:t>Module 10: Steel Design Calculator</a:t>
            </a:r>
          </a:p>
          <a:p>
            <a:endParaRPr lang="en-US" sz="1400" dirty="0"/>
          </a:p>
          <a:p>
            <a:r>
              <a:rPr lang="en-US" sz="1400" dirty="0"/>
              <a:t>Step 13: ELSE IF choice = 10 (Steel Design Calculator)</a:t>
            </a:r>
          </a:p>
          <a:p>
            <a:endParaRPr lang="en-US" sz="1400" dirty="0"/>
          </a:p>
          <a:p>
            <a:r>
              <a:rPr lang="en-US" sz="1400" dirty="0"/>
              <a:t>Step 13.1: Display Steel Design Menu:</a:t>
            </a:r>
          </a:p>
          <a:p>
            <a:endParaRPr lang="en-US" sz="1400" dirty="0"/>
          </a:p>
          <a:p>
            <a:r>
              <a:rPr lang="en-US" sz="1400" dirty="0"/>
              <a:t>a. Steel Beam Design</a:t>
            </a:r>
          </a:p>
          <a:p>
            <a:endParaRPr lang="en-US" sz="1400" dirty="0"/>
          </a:p>
          <a:p>
            <a:r>
              <a:rPr lang="en-US" sz="1400" dirty="0"/>
              <a:t>b. Steel Column Design</a:t>
            </a:r>
          </a:p>
          <a:p>
            <a:endParaRPr lang="en-US" sz="1400" dirty="0"/>
          </a:p>
          <a:p>
            <a:r>
              <a:rPr lang="en-US" sz="1400" dirty="0"/>
              <a:t>c. Connection Design</a:t>
            </a:r>
          </a:p>
          <a:p>
            <a:endParaRPr lang="en-US" sz="1400" dirty="0"/>
          </a:p>
          <a:p>
            <a:r>
              <a:rPr lang="en-US" sz="1400" dirty="0"/>
              <a:t>d. Plate Girder Design</a:t>
            </a:r>
          </a:p>
          <a:p>
            <a:endParaRPr lang="en-US" sz="1400" dirty="0"/>
          </a:p>
          <a:p>
            <a:r>
              <a:rPr lang="en-US" sz="1400" dirty="0"/>
              <a:t>Step 13.2: INPUT steel design type</a:t>
            </a:r>
          </a:p>
          <a:p>
            <a:endParaRPr lang="en-US" sz="1400" dirty="0"/>
          </a:p>
          <a:p>
            <a:r>
              <a:rPr lang="en-US" sz="1400" dirty="0"/>
              <a:t>Step 13.3: IF Steel Beam:</a:t>
            </a:r>
          </a:p>
        </p:txBody>
      </p:sp>
    </p:spTree>
    <p:extLst>
      <p:ext uri="{BB962C8B-B14F-4D97-AF65-F5344CB8AC3E}">
        <p14:creationId xmlns:p14="http://schemas.microsoft.com/office/powerpoint/2010/main" val="8307723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E73A5B-55BC-AD69-2B55-4DC8BF63E41A}"/>
              </a:ext>
            </a:extLst>
          </p:cNvPr>
          <p:cNvSpPr>
            <a:spLocks noGrp="1"/>
          </p:cNvSpPr>
          <p:nvPr>
            <p:ph type="body" idx="1"/>
          </p:nvPr>
        </p:nvSpPr>
        <p:spPr>
          <a:xfrm>
            <a:off x="1610920" y="1562099"/>
            <a:ext cx="10018713" cy="3124201"/>
          </a:xfrm>
        </p:spPr>
        <p:txBody>
          <a:bodyPr>
            <a:normAutofit fontScale="25000" lnSpcReduction="20000"/>
          </a:bodyPr>
          <a:lstStyle/>
          <a:p>
            <a:endParaRPr lang="en-US" sz="5600" dirty="0"/>
          </a:p>
          <a:p>
            <a:r>
              <a:rPr lang="en-US" sz="5600" dirty="0"/>
              <a:t>INPUT:</a:t>
            </a:r>
          </a:p>
          <a:p>
            <a:endParaRPr lang="en-US" sz="5600" dirty="0"/>
          </a:p>
          <a:p>
            <a:r>
              <a:rPr lang="en-US" sz="5600" dirty="0"/>
              <a:t>Span (L)</a:t>
            </a:r>
          </a:p>
          <a:p>
            <a:endParaRPr lang="en-US" sz="5600" dirty="0"/>
          </a:p>
          <a:p>
            <a:r>
              <a:rPr lang="en-US" sz="5600" dirty="0"/>
              <a:t>Loading (UDL/Point)</a:t>
            </a:r>
          </a:p>
          <a:p>
            <a:endParaRPr lang="en-US" sz="5600" dirty="0"/>
          </a:p>
          <a:p>
            <a:r>
              <a:rPr lang="en-US" sz="5600" dirty="0"/>
              <a:t>Steel section type (I. C, Angle)</a:t>
            </a:r>
          </a:p>
          <a:p>
            <a:endParaRPr lang="en-US" sz="5600" dirty="0"/>
          </a:p>
          <a:p>
            <a:r>
              <a:rPr lang="en-US" sz="5600" dirty="0"/>
              <a:t>CALCULATE:</a:t>
            </a:r>
          </a:p>
          <a:p>
            <a:endParaRPr lang="en-US" sz="5600" dirty="0"/>
          </a:p>
          <a:p>
            <a:r>
              <a:rPr lang="en-US" sz="5600" dirty="0"/>
              <a:t>Maximum moment and shear</a:t>
            </a:r>
          </a:p>
          <a:p>
            <a:endParaRPr lang="en-US" sz="5600" dirty="0"/>
          </a:p>
          <a:p>
            <a:r>
              <a:rPr lang="en-US" sz="5600" dirty="0"/>
              <a:t>Required section modulus: Z=M/fb</a:t>
            </a:r>
          </a:p>
          <a:p>
            <a:endParaRPr lang="en-US" sz="5600" dirty="0"/>
          </a:p>
          <a:p>
            <a:r>
              <a:rPr lang="en-US" sz="5600" dirty="0"/>
              <a:t>SELECT appropriate section from steel tables</a:t>
            </a:r>
          </a:p>
          <a:p>
            <a:endParaRPr lang="en-US" sz="5600" dirty="0"/>
          </a:p>
          <a:p>
            <a:r>
              <a:rPr lang="en-US" sz="5600" dirty="0"/>
              <a:t>RETRIEVE all parameters</a:t>
            </a:r>
            <a:endParaRPr lang="en-IN" sz="5600" dirty="0"/>
          </a:p>
          <a:p>
            <a:endParaRPr lang="en-IN" sz="900" dirty="0"/>
          </a:p>
        </p:txBody>
      </p:sp>
    </p:spTree>
    <p:extLst>
      <p:ext uri="{BB962C8B-B14F-4D97-AF65-F5344CB8AC3E}">
        <p14:creationId xmlns:p14="http://schemas.microsoft.com/office/powerpoint/2010/main" val="3853884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2EB28B-151D-D93F-0C9D-0AFD2952215D}"/>
              </a:ext>
            </a:extLst>
          </p:cNvPr>
          <p:cNvSpPr>
            <a:spLocks noGrp="1"/>
          </p:cNvSpPr>
          <p:nvPr>
            <p:ph type="body" idx="1"/>
          </p:nvPr>
        </p:nvSpPr>
        <p:spPr>
          <a:xfrm>
            <a:off x="1484310" y="1866899"/>
            <a:ext cx="10018713" cy="3124201"/>
          </a:xfrm>
        </p:spPr>
        <p:txBody>
          <a:bodyPr>
            <a:normAutofit fontScale="25000" lnSpcReduction="20000"/>
          </a:bodyPr>
          <a:lstStyle/>
          <a:p>
            <a:r>
              <a:rPr lang="en-US" sz="5600" dirty="0"/>
              <a:t>Check for deflection</a:t>
            </a:r>
          </a:p>
          <a:p>
            <a:endParaRPr lang="en-US" sz="5600" dirty="0"/>
          </a:p>
          <a:p>
            <a:r>
              <a:rPr lang="en-US" sz="5600" dirty="0"/>
              <a:t>Check for shear</a:t>
            </a:r>
          </a:p>
          <a:p>
            <a:endParaRPr lang="en-US" sz="5600" dirty="0"/>
          </a:p>
          <a:p>
            <a:r>
              <a:rPr lang="en-US" sz="5600" dirty="0"/>
              <a:t>Check for web buckling</a:t>
            </a:r>
          </a:p>
          <a:p>
            <a:endParaRPr lang="en-US" sz="5600" dirty="0"/>
          </a:p>
          <a:p>
            <a:r>
              <a:rPr lang="en-US" sz="5600" dirty="0"/>
              <a:t>Check for lateral-torsional buckling</a:t>
            </a:r>
          </a:p>
          <a:p>
            <a:endParaRPr lang="en-US" sz="5600" dirty="0"/>
          </a:p>
          <a:p>
            <a:r>
              <a:rPr lang="en-US" sz="5600" dirty="0"/>
              <a:t>Step 13.4: IF Steel Column:</a:t>
            </a:r>
          </a:p>
          <a:p>
            <a:endParaRPr lang="en-US" sz="5600" dirty="0"/>
          </a:p>
          <a:p>
            <a:r>
              <a:rPr lang="en-US" sz="5600" dirty="0"/>
              <a:t>INPUT:</a:t>
            </a:r>
          </a:p>
          <a:p>
            <a:endParaRPr lang="en-US" sz="5600" dirty="0"/>
          </a:p>
          <a:p>
            <a:r>
              <a:rPr lang="en-US" sz="5600" dirty="0"/>
              <a:t>Height</a:t>
            </a:r>
          </a:p>
          <a:p>
            <a:endParaRPr lang="en-US" sz="5600" dirty="0"/>
          </a:p>
          <a:p>
            <a:r>
              <a:rPr lang="en-US" sz="5600" dirty="0"/>
              <a:t>Axial load</a:t>
            </a:r>
          </a:p>
          <a:p>
            <a:endParaRPr lang="en-US" sz="5600" dirty="0"/>
          </a:p>
          <a:p>
            <a:r>
              <a:rPr lang="en-US" sz="5600" dirty="0"/>
              <a:t>End conditions</a:t>
            </a:r>
          </a:p>
          <a:p>
            <a:endParaRPr lang="en-IN" sz="900" dirty="0"/>
          </a:p>
        </p:txBody>
      </p:sp>
    </p:spTree>
    <p:extLst>
      <p:ext uri="{BB962C8B-B14F-4D97-AF65-F5344CB8AC3E}">
        <p14:creationId xmlns:p14="http://schemas.microsoft.com/office/powerpoint/2010/main" val="4151043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7BDBF5D-B76A-D839-6E19-C46CCADABA10}"/>
              </a:ext>
            </a:extLst>
          </p:cNvPr>
          <p:cNvSpPr>
            <a:spLocks noGrp="1"/>
          </p:cNvSpPr>
          <p:nvPr>
            <p:ph type="body" idx="1"/>
          </p:nvPr>
        </p:nvSpPr>
        <p:spPr>
          <a:xfrm>
            <a:off x="1484310" y="1562099"/>
            <a:ext cx="10018713" cy="3124201"/>
          </a:xfrm>
        </p:spPr>
        <p:txBody>
          <a:bodyPr>
            <a:normAutofit fontScale="25000" lnSpcReduction="20000"/>
          </a:bodyPr>
          <a:lstStyle/>
          <a:p>
            <a:endParaRPr lang="en-US" sz="5600" dirty="0"/>
          </a:p>
          <a:p>
            <a:r>
              <a:rPr lang="en-US" sz="5600" dirty="0"/>
              <a:t>CALCULATE:</a:t>
            </a:r>
          </a:p>
          <a:p>
            <a:endParaRPr lang="en-US" sz="5600" dirty="0"/>
          </a:p>
          <a:p>
            <a:r>
              <a:rPr lang="en-US" sz="5600" dirty="0"/>
              <a:t>Effective length</a:t>
            </a:r>
          </a:p>
          <a:p>
            <a:endParaRPr lang="en-US" sz="5600" dirty="0"/>
          </a:p>
          <a:p>
            <a:r>
              <a:rPr lang="en-US" sz="5600" dirty="0"/>
              <a:t>Required area: A =P/fc</a:t>
            </a:r>
          </a:p>
          <a:p>
            <a:endParaRPr lang="en-US" sz="5600" dirty="0"/>
          </a:p>
          <a:p>
            <a:r>
              <a:rPr lang="en-US" sz="5600" dirty="0"/>
              <a:t>Slenderness ratio</a:t>
            </a:r>
          </a:p>
          <a:p>
            <a:endParaRPr lang="en-US" sz="5600" dirty="0"/>
          </a:p>
          <a:p>
            <a:r>
              <a:rPr lang="en-US" sz="5600" dirty="0"/>
              <a:t>SELECT section</a:t>
            </a:r>
          </a:p>
          <a:p>
            <a:endParaRPr lang="en-US" sz="5600" dirty="0"/>
          </a:p>
          <a:p>
            <a:r>
              <a:rPr lang="en-US" sz="5600" dirty="0"/>
              <a:t>Check buckling strength</a:t>
            </a:r>
          </a:p>
          <a:p>
            <a:endParaRPr lang="en-US" sz="5600" dirty="0"/>
          </a:p>
          <a:p>
            <a:r>
              <a:rPr lang="en-US" sz="5600" dirty="0"/>
              <a:t>Step 13.5: Display design results with section properties</a:t>
            </a:r>
          </a:p>
          <a:p>
            <a:endParaRPr lang="en-US" sz="5600" dirty="0"/>
          </a:p>
          <a:p>
            <a:r>
              <a:rPr lang="en-US" sz="5600" dirty="0"/>
              <a:t>Step 13.6: GOTO Step 2</a:t>
            </a:r>
          </a:p>
          <a:p>
            <a:endParaRPr lang="en-US" sz="5600" dirty="0"/>
          </a:p>
          <a:p>
            <a:r>
              <a:rPr lang="en-US" sz="5600" dirty="0"/>
              <a:t>Module 11: Save/Load Design</a:t>
            </a:r>
          </a:p>
          <a:p>
            <a:endParaRPr lang="en-US" sz="900" dirty="0"/>
          </a:p>
          <a:p>
            <a:endParaRPr lang="en-IN" sz="900" dirty="0"/>
          </a:p>
        </p:txBody>
      </p:sp>
    </p:spTree>
    <p:extLst>
      <p:ext uri="{BB962C8B-B14F-4D97-AF65-F5344CB8AC3E}">
        <p14:creationId xmlns:p14="http://schemas.microsoft.com/office/powerpoint/2010/main" val="22459488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ACA7178-3F25-0EF8-2264-BFFBE6B9FC29}"/>
              </a:ext>
            </a:extLst>
          </p:cNvPr>
          <p:cNvSpPr>
            <a:spLocks noGrp="1"/>
          </p:cNvSpPr>
          <p:nvPr>
            <p:ph type="body" idx="1"/>
          </p:nvPr>
        </p:nvSpPr>
        <p:spPr>
          <a:xfrm>
            <a:off x="1681258" y="2033953"/>
            <a:ext cx="10018713" cy="3124201"/>
          </a:xfrm>
        </p:spPr>
        <p:txBody>
          <a:bodyPr>
            <a:normAutofit fontScale="25000" lnSpcReduction="20000"/>
          </a:bodyPr>
          <a:lstStyle/>
          <a:p>
            <a:r>
              <a:rPr lang="en-US" sz="4800" dirty="0"/>
              <a:t>Step 14: ELSE IF choice = 11 (Save/Load Design)</a:t>
            </a:r>
          </a:p>
          <a:p>
            <a:endParaRPr lang="en-US" sz="4800" dirty="0"/>
          </a:p>
          <a:p>
            <a:r>
              <a:rPr lang="en-US" sz="4800" dirty="0"/>
              <a:t>Step 14.1: Display sub-menu:</a:t>
            </a:r>
          </a:p>
          <a:p>
            <a:endParaRPr lang="en-US" sz="4800" dirty="0"/>
          </a:p>
          <a:p>
            <a:r>
              <a:rPr lang="en-US" sz="4800" dirty="0"/>
              <a:t>a. Save Current Design</a:t>
            </a:r>
          </a:p>
          <a:p>
            <a:endParaRPr lang="en-US" sz="4800" dirty="0"/>
          </a:p>
          <a:p>
            <a:r>
              <a:rPr lang="en-US" sz="4800" dirty="0"/>
              <a:t>b. Load Previous Design</a:t>
            </a:r>
          </a:p>
          <a:p>
            <a:endParaRPr lang="en-US" sz="4800" dirty="0"/>
          </a:p>
          <a:p>
            <a:r>
              <a:rPr lang="en-US" sz="4800" dirty="0"/>
              <a:t>c. View Saved Designs</a:t>
            </a:r>
          </a:p>
          <a:p>
            <a:endParaRPr lang="en-US" sz="4800" dirty="0"/>
          </a:p>
          <a:p>
            <a:r>
              <a:rPr lang="en-US" sz="4800" dirty="0"/>
              <a:t>d. Delete Design</a:t>
            </a:r>
          </a:p>
          <a:p>
            <a:endParaRPr lang="en-US" sz="4800" dirty="0"/>
          </a:p>
          <a:p>
            <a:r>
              <a:rPr lang="en-US" sz="4800" dirty="0"/>
              <a:t>Step 14.2: IF Save:</a:t>
            </a:r>
          </a:p>
          <a:p>
            <a:endParaRPr lang="en-US" sz="4800" dirty="0"/>
          </a:p>
          <a:p>
            <a:r>
              <a:rPr lang="en-US" sz="4800" dirty="0"/>
              <a:t>INPUT design name</a:t>
            </a:r>
          </a:p>
          <a:p>
            <a:endParaRPr lang="en-US" sz="4800" dirty="0"/>
          </a:p>
          <a:p>
            <a:r>
              <a:rPr lang="en-US" sz="4800" dirty="0"/>
              <a:t>SAVE all parameters and results to file/database</a:t>
            </a:r>
          </a:p>
          <a:p>
            <a:endParaRPr lang="en-US" sz="4800" dirty="0"/>
          </a:p>
          <a:p>
            <a:r>
              <a:rPr lang="en-US" sz="4800" dirty="0"/>
              <a:t>Display "Design Saved Successfully"</a:t>
            </a:r>
          </a:p>
          <a:p>
            <a:endParaRPr lang="en-US" sz="4800" dirty="0"/>
          </a:p>
          <a:p>
            <a:r>
              <a:rPr lang="en-US" sz="4800" dirty="0"/>
              <a:t>Step 14.3: IF Load:</a:t>
            </a:r>
          </a:p>
          <a:p>
            <a:endParaRPr lang="en-US" sz="4800" dirty="0"/>
          </a:p>
          <a:p>
            <a:r>
              <a:rPr lang="en-US" sz="4800" dirty="0"/>
              <a:t>Display list of saved designs</a:t>
            </a:r>
          </a:p>
          <a:p>
            <a:endParaRPr lang="en-US" sz="4800" dirty="0"/>
          </a:p>
          <a:p>
            <a:r>
              <a:rPr lang="en-US" sz="4800" dirty="0"/>
              <a:t>SELECT design to load</a:t>
            </a:r>
          </a:p>
          <a:p>
            <a:r>
              <a:rPr lang="en-US" sz="4800" dirty="0"/>
              <a:t>RETRIEVE all parameters</a:t>
            </a:r>
          </a:p>
          <a:p>
            <a:endParaRPr lang="en-US" sz="4800" dirty="0"/>
          </a:p>
          <a:p>
            <a:endParaRPr lang="en-IN" sz="900" dirty="0"/>
          </a:p>
        </p:txBody>
      </p:sp>
    </p:spTree>
    <p:extLst>
      <p:ext uri="{BB962C8B-B14F-4D97-AF65-F5344CB8AC3E}">
        <p14:creationId xmlns:p14="http://schemas.microsoft.com/office/powerpoint/2010/main" val="167975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9ABA2EE-0258-3CA4-06D5-672631863CAE}"/>
              </a:ext>
            </a:extLst>
          </p:cNvPr>
          <p:cNvSpPr>
            <a:spLocks noGrp="1"/>
          </p:cNvSpPr>
          <p:nvPr>
            <p:ph type="body" idx="1"/>
          </p:nvPr>
        </p:nvSpPr>
        <p:spPr>
          <a:xfrm>
            <a:off x="1484311" y="1866899"/>
            <a:ext cx="10018713" cy="3124201"/>
          </a:xfrm>
        </p:spPr>
        <p:txBody>
          <a:bodyPr>
            <a:normAutofit fontScale="25000" lnSpcReduction="20000"/>
          </a:bodyPr>
          <a:lstStyle/>
          <a:p>
            <a:r>
              <a:rPr lang="en-US" sz="5600" dirty="0"/>
              <a:t>Program Termination</a:t>
            </a:r>
          </a:p>
          <a:p>
            <a:endParaRPr lang="en-US" sz="5600" dirty="0"/>
          </a:p>
          <a:p>
            <a:r>
              <a:rPr lang="en-US" sz="5600" dirty="0"/>
              <a:t>Step 15: IF choice = 12</a:t>
            </a:r>
          </a:p>
          <a:p>
            <a:endParaRPr lang="en-US" sz="5600" dirty="0"/>
          </a:p>
          <a:p>
            <a:r>
              <a:rPr lang="en-US" sz="5600" dirty="0"/>
              <a:t>Display "Thank You for Using the Calculator"</a:t>
            </a:r>
          </a:p>
          <a:p>
            <a:endParaRPr lang="en-US" sz="5600" dirty="0"/>
          </a:p>
          <a:p>
            <a:r>
              <a:rPr lang="en-US" sz="5600" dirty="0"/>
              <a:t>EXIT system</a:t>
            </a:r>
          </a:p>
          <a:p>
            <a:endParaRPr lang="en-US" sz="5600" dirty="0"/>
          </a:p>
          <a:p>
            <a:r>
              <a:rPr lang="en-US" sz="5600" dirty="0"/>
              <a:t>Step 16: STOP</a:t>
            </a:r>
          </a:p>
          <a:p>
            <a:endParaRPr lang="en-US" sz="5600" dirty="0"/>
          </a:p>
          <a:p>
            <a:r>
              <a:rPr lang="en-US" sz="5600" dirty="0"/>
              <a:t>Key Formulas Used</a:t>
            </a:r>
          </a:p>
          <a:p>
            <a:endParaRPr lang="en-US" sz="5600" dirty="0"/>
          </a:p>
          <a:p>
            <a:r>
              <a:rPr lang="en-US" sz="5600" dirty="0"/>
              <a:t>Beam Design</a:t>
            </a:r>
          </a:p>
          <a:p>
            <a:endParaRPr lang="en-US" sz="5600" dirty="0"/>
          </a:p>
          <a:p>
            <a:r>
              <a:rPr lang="en-US" sz="5600" dirty="0"/>
              <a:t>Ast=M/(0.87xfyxjxd)</a:t>
            </a:r>
          </a:p>
          <a:p>
            <a:endParaRPr lang="en-US" sz="900" dirty="0"/>
          </a:p>
        </p:txBody>
      </p:sp>
    </p:spTree>
    <p:extLst>
      <p:ext uri="{BB962C8B-B14F-4D97-AF65-F5344CB8AC3E}">
        <p14:creationId xmlns:p14="http://schemas.microsoft.com/office/powerpoint/2010/main" val="1638875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D105EE1-C6F7-CBFC-17A1-95B32AE07FF4}"/>
              </a:ext>
            </a:extLst>
          </p:cNvPr>
          <p:cNvSpPr>
            <a:spLocks noGrp="1"/>
          </p:cNvSpPr>
          <p:nvPr>
            <p:ph type="body" idx="1"/>
          </p:nvPr>
        </p:nvSpPr>
        <p:spPr>
          <a:xfrm>
            <a:off x="1610920" y="2044504"/>
            <a:ext cx="10018713" cy="3124201"/>
          </a:xfrm>
        </p:spPr>
        <p:txBody>
          <a:bodyPr>
            <a:normAutofit fontScale="25000" lnSpcReduction="20000"/>
          </a:bodyPr>
          <a:lstStyle/>
          <a:p>
            <a:r>
              <a:rPr lang="en-US" sz="5600" dirty="0"/>
              <a:t>Shear stress: TV = V/ (</a:t>
            </a:r>
            <a:r>
              <a:rPr lang="en-US" sz="5600" dirty="0" err="1"/>
              <a:t>bxd</a:t>
            </a:r>
            <a:r>
              <a:rPr lang="en-US" sz="5600" dirty="0"/>
              <a:t>)</a:t>
            </a:r>
          </a:p>
          <a:p>
            <a:endParaRPr lang="en-US" sz="5600" dirty="0"/>
          </a:p>
          <a:p>
            <a:r>
              <a:rPr lang="en-US" sz="5600" dirty="0"/>
              <a:t>Column Design</a:t>
            </a:r>
          </a:p>
          <a:p>
            <a:endParaRPr lang="en-US" sz="5600" dirty="0"/>
          </a:p>
          <a:p>
            <a:r>
              <a:rPr lang="en-US" sz="5600" dirty="0"/>
              <a:t>Slenderness ratio: λ = </a:t>
            </a:r>
            <a:r>
              <a:rPr lang="en-US" sz="5600" dirty="0" err="1"/>
              <a:t>leff</a:t>
            </a:r>
            <a:r>
              <a:rPr lang="en-US" sz="5600" dirty="0"/>
              <a:t> / r</a:t>
            </a:r>
          </a:p>
          <a:p>
            <a:endParaRPr lang="en-US" sz="5600" dirty="0"/>
          </a:p>
          <a:p>
            <a:r>
              <a:rPr lang="en-US" sz="5600" dirty="0"/>
              <a:t>Pu = 0.4 x </a:t>
            </a:r>
            <a:r>
              <a:rPr lang="en-US" sz="5600" dirty="0" err="1"/>
              <a:t>fckx</a:t>
            </a:r>
            <a:r>
              <a:rPr lang="en-US" sz="5600" dirty="0"/>
              <a:t> Ac + 0.67 x </a:t>
            </a:r>
            <a:r>
              <a:rPr lang="en-US" sz="5600" dirty="0" err="1"/>
              <a:t>fyx</a:t>
            </a:r>
            <a:r>
              <a:rPr lang="en-US" sz="5600" dirty="0"/>
              <a:t> </a:t>
            </a:r>
            <a:r>
              <a:rPr lang="en-US" sz="5600" dirty="0" err="1"/>
              <a:t>Asc</a:t>
            </a:r>
            <a:endParaRPr lang="en-US" sz="5600" dirty="0"/>
          </a:p>
          <a:p>
            <a:endParaRPr lang="en-US" sz="5600" dirty="0"/>
          </a:p>
          <a:p>
            <a:r>
              <a:rPr lang="en-US" sz="5600" dirty="0"/>
              <a:t>Deflection</a:t>
            </a:r>
          </a:p>
          <a:p>
            <a:endParaRPr lang="en-US" sz="5600" dirty="0"/>
          </a:p>
          <a:p>
            <a:r>
              <a:rPr lang="en-US" sz="5600" dirty="0"/>
              <a:t>Simply Supported (UDL): 8 = (5wL+)/(384EI)</a:t>
            </a:r>
          </a:p>
          <a:p>
            <a:endParaRPr lang="en-US" sz="5600" dirty="0"/>
          </a:p>
          <a:p>
            <a:r>
              <a:rPr lang="en-US" sz="5600" dirty="0"/>
              <a:t>Cantilever (Point Load): 8 = (PL)/(3EI)</a:t>
            </a:r>
          </a:p>
          <a:p>
            <a:endParaRPr lang="en-US" sz="5600" dirty="0"/>
          </a:p>
          <a:p>
            <a:r>
              <a:rPr lang="en-US" sz="5600" dirty="0"/>
              <a:t>Wind Load</a:t>
            </a:r>
          </a:p>
          <a:p>
            <a:endParaRPr lang="en-US" sz="6000" dirty="0"/>
          </a:p>
          <a:p>
            <a:r>
              <a:rPr lang="en-US" sz="6000" dirty="0" err="1"/>
              <a:t>pz</a:t>
            </a:r>
            <a:r>
              <a:rPr lang="en-US" sz="6000" dirty="0"/>
              <a:t>=0.6 x </a:t>
            </a:r>
            <a:r>
              <a:rPr lang="en-US" sz="6000" dirty="0" err="1"/>
              <a:t>Vz</a:t>
            </a:r>
            <a:endParaRPr lang="en-US" sz="6000" dirty="0"/>
          </a:p>
          <a:p>
            <a:endParaRPr lang="en-US" sz="6000" dirty="0"/>
          </a:p>
          <a:p>
            <a:r>
              <a:rPr lang="en-US" sz="6000" dirty="0"/>
              <a:t>Vzk1xk2 × k3 x </a:t>
            </a:r>
            <a:r>
              <a:rPr lang="en-US" sz="6000" dirty="0" err="1"/>
              <a:t>Vb</a:t>
            </a:r>
            <a:endParaRPr lang="en-US" sz="6000" dirty="0"/>
          </a:p>
          <a:p>
            <a:endParaRPr lang="en-US" sz="6000" dirty="0"/>
          </a:p>
          <a:p>
            <a:r>
              <a:rPr lang="en-US" sz="6000" dirty="0"/>
              <a:t>Seismic Load</a:t>
            </a:r>
          </a:p>
          <a:p>
            <a:endParaRPr lang="en-US" sz="6000" dirty="0"/>
          </a:p>
          <a:p>
            <a:r>
              <a:rPr lang="en-US" sz="6000" dirty="0"/>
              <a:t>Base Shear: </a:t>
            </a:r>
            <a:r>
              <a:rPr lang="en-US" sz="6000" dirty="0" err="1"/>
              <a:t>Vb</a:t>
            </a:r>
            <a:r>
              <a:rPr lang="en-US" sz="6000" dirty="0"/>
              <a:t> = Ah x W</a:t>
            </a:r>
          </a:p>
          <a:p>
            <a:endParaRPr lang="en-US" sz="6000" dirty="0"/>
          </a:p>
          <a:p>
            <a:endParaRPr lang="en-IN" sz="900" dirty="0"/>
          </a:p>
        </p:txBody>
      </p:sp>
    </p:spTree>
    <p:extLst>
      <p:ext uri="{BB962C8B-B14F-4D97-AF65-F5344CB8AC3E}">
        <p14:creationId xmlns:p14="http://schemas.microsoft.com/office/powerpoint/2010/main" val="33219255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7763A7-72A3-3184-CB96-A9780CB263DA}"/>
              </a:ext>
            </a:extLst>
          </p:cNvPr>
          <p:cNvSpPr>
            <a:spLocks noGrp="1"/>
          </p:cNvSpPr>
          <p:nvPr>
            <p:ph type="body" idx="1"/>
          </p:nvPr>
        </p:nvSpPr>
        <p:spPr>
          <a:xfrm>
            <a:off x="1512445" y="563881"/>
            <a:ext cx="10018713" cy="3124201"/>
          </a:xfrm>
        </p:spPr>
        <p:txBody>
          <a:bodyPr>
            <a:normAutofit fontScale="92500" lnSpcReduction="20000"/>
          </a:bodyPr>
          <a:lstStyle/>
          <a:p>
            <a:r>
              <a:rPr lang="en-US" sz="1400" dirty="0"/>
              <a:t>Ah = (2/2) x (I/R) × (Sa/g)</a:t>
            </a:r>
          </a:p>
          <a:p>
            <a:endParaRPr lang="en-US" sz="1400" dirty="0"/>
          </a:p>
          <a:p>
            <a:r>
              <a:rPr lang="en-US" sz="1400" dirty="0"/>
              <a:t>Notes</a:t>
            </a:r>
          </a:p>
          <a:p>
            <a:endParaRPr lang="en-US" sz="1400" dirty="0"/>
          </a:p>
          <a:p>
            <a:r>
              <a:rPr lang="en-US" sz="1400" dirty="0"/>
              <a:t>All calculations follow IS Code standards (IS 456, IS 800, IS 875, IS 1893)</a:t>
            </a:r>
          </a:p>
          <a:p>
            <a:endParaRPr lang="en-US" sz="1400" dirty="0"/>
          </a:p>
          <a:p>
            <a:r>
              <a:rPr lang="en-US" sz="1400" dirty="0"/>
              <a:t>Units should be consistent throughout calculations</a:t>
            </a:r>
          </a:p>
          <a:p>
            <a:endParaRPr lang="en-US" sz="1400" dirty="0"/>
          </a:p>
          <a:p>
            <a:r>
              <a:rPr lang="en-US" sz="1400" dirty="0"/>
              <a:t>Safety factors and load factors as per code requirements</a:t>
            </a:r>
          </a:p>
          <a:p>
            <a:endParaRPr lang="en-US" sz="1400" dirty="0"/>
          </a:p>
          <a:p>
            <a:r>
              <a:rPr lang="en-US" sz="1400" dirty="0"/>
              <a:t>Design should satisfy both strength and serviceability criteria</a:t>
            </a:r>
            <a:endParaRPr lang="en-IN" sz="1400" dirty="0"/>
          </a:p>
          <a:p>
            <a:endParaRPr lang="en-US" sz="1400" dirty="0"/>
          </a:p>
          <a:p>
            <a:endParaRPr lang="en-IN" sz="1400" dirty="0"/>
          </a:p>
        </p:txBody>
      </p:sp>
    </p:spTree>
    <p:extLst>
      <p:ext uri="{BB962C8B-B14F-4D97-AF65-F5344CB8AC3E}">
        <p14:creationId xmlns:p14="http://schemas.microsoft.com/office/powerpoint/2010/main" val="9247722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241</TotalTime>
  <Words>2154</Words>
  <Application>Microsoft Office PowerPoint</Application>
  <PresentationFormat>Widescreen</PresentationFormat>
  <Paragraphs>553</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Corbel</vt:lpstr>
      <vt:lpstr>Parallax</vt:lpstr>
      <vt:lpstr>  Main Algorithm:  Step 1:       START  Step 2: Display Main Menu                       1. Beam Design Calculator                            2. Column Design Calculator                      3. Slab Design Calculator                             4. Footing Design Calculator  5. Truss Analysis                                    6. Material Properties Calculator     7. Load Calculator               8. Deflection Calculator                                          9. Shear Force and Bending Moment                    10. Steel Design Calculator        11. Save/Load Design  12. Exit  </vt:lpstr>
      <vt:lpstr>   </vt:lpstr>
      <vt:lpstr>PowerPoint Presentation</vt:lpstr>
      <vt:lpstr>PowerPoint Presentation</vt:lpstr>
      <vt:lpstr>                                          b. Circular Column  c. L-shaped Column  d. T-shaped Column  Step 5.2: INPUT column parameters:  Height (H)  Cross-sectional dimensions  Axial load (P)  Moment (M) if any  Concrete grade (fck)  Steel grade (fy)  Effective length factor  Step 5.3: CALCULATE:  Slenderness ratio: A = (1_eff/r)  Check if short or slender column  Minimum eccentricity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5</cp:revision>
  <dcterms:created xsi:type="dcterms:W3CDTF">2025-12-05T14:00:38Z</dcterms:created>
  <dcterms:modified xsi:type="dcterms:W3CDTF">2025-12-15T12:21:53Z</dcterms:modified>
</cp:coreProperties>
</file>